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307" r:id="rId2"/>
    <p:sldId id="550" r:id="rId3"/>
    <p:sldId id="567" r:id="rId4"/>
    <p:sldId id="568" r:id="rId5"/>
    <p:sldId id="576" r:id="rId6"/>
    <p:sldId id="575" r:id="rId7"/>
    <p:sldId id="577" r:id="rId8"/>
    <p:sldId id="578" r:id="rId9"/>
    <p:sldId id="572" r:id="rId10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2CC"/>
    <a:srgbClr val="EC8A62"/>
    <a:srgbClr val="C3EBD4"/>
    <a:srgbClr val="89ADB0"/>
    <a:srgbClr val="A39CC0"/>
    <a:srgbClr val="6C4C13"/>
    <a:srgbClr val="702A40"/>
    <a:srgbClr val="3A3375"/>
    <a:srgbClr val="653E66"/>
    <a:srgbClr val="3A36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02"/>
    <p:restoredTop sz="94694"/>
  </p:normalViewPr>
  <p:slideViewPr>
    <p:cSldViewPr snapToGrid="0" snapToObjects="1">
      <p:cViewPr varScale="1">
        <p:scale>
          <a:sx n="86" d="100"/>
          <a:sy n="86" d="100"/>
        </p:scale>
        <p:origin x="118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C58F8-F9D5-A14E-83EB-74B7DD907103}" type="datetimeFigureOut">
              <a:rPr kumimoji="1" lang="ko-KR" altLang="en-US" smtClean="0"/>
              <a:t>2022-02-14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4CDC7-4371-AD40-86F2-C5452BFDFFB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90267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C58F8-F9D5-A14E-83EB-74B7DD907103}" type="datetimeFigureOut">
              <a:rPr kumimoji="1" lang="ko-KR" altLang="en-US" smtClean="0"/>
              <a:t>2022-02-14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4CDC7-4371-AD40-86F2-C5452BFDFFB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42723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C58F8-F9D5-A14E-83EB-74B7DD907103}" type="datetimeFigureOut">
              <a:rPr kumimoji="1" lang="ko-KR" altLang="en-US" smtClean="0"/>
              <a:t>2022-02-14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4CDC7-4371-AD40-86F2-C5452BFDFFB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16867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C58F8-F9D5-A14E-83EB-74B7DD907103}" type="datetimeFigureOut">
              <a:rPr kumimoji="1" lang="ko-KR" altLang="en-US" smtClean="0"/>
              <a:t>2022-02-14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4CDC7-4371-AD40-86F2-C5452BFDFFB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60589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C58F8-F9D5-A14E-83EB-74B7DD907103}" type="datetimeFigureOut">
              <a:rPr kumimoji="1" lang="ko-KR" altLang="en-US" smtClean="0"/>
              <a:t>2022-02-14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4CDC7-4371-AD40-86F2-C5452BFDFFB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93850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C58F8-F9D5-A14E-83EB-74B7DD907103}" type="datetimeFigureOut">
              <a:rPr kumimoji="1" lang="ko-KR" altLang="en-US" smtClean="0"/>
              <a:t>2022-02-14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4CDC7-4371-AD40-86F2-C5452BFDFFB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41804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C58F8-F9D5-A14E-83EB-74B7DD907103}" type="datetimeFigureOut">
              <a:rPr kumimoji="1" lang="ko-KR" altLang="en-US" smtClean="0"/>
              <a:t>2022-02-14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4CDC7-4371-AD40-86F2-C5452BFDFFB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18916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C58F8-F9D5-A14E-83EB-74B7DD907103}" type="datetimeFigureOut">
              <a:rPr kumimoji="1" lang="ko-KR" altLang="en-US" smtClean="0"/>
              <a:t>2022-02-14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4CDC7-4371-AD40-86F2-C5452BFDFFB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96783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C58F8-F9D5-A14E-83EB-74B7DD907103}" type="datetimeFigureOut">
              <a:rPr kumimoji="1" lang="ko-KR" altLang="en-US" smtClean="0"/>
              <a:t>2022-02-14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4CDC7-4371-AD40-86F2-C5452BFDFFB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79119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C58F8-F9D5-A14E-83EB-74B7DD907103}" type="datetimeFigureOut">
              <a:rPr kumimoji="1" lang="ko-KR" altLang="en-US" smtClean="0"/>
              <a:t>2022-02-14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4CDC7-4371-AD40-86F2-C5452BFDFFB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4235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C58F8-F9D5-A14E-83EB-74B7DD907103}" type="datetimeFigureOut">
              <a:rPr kumimoji="1" lang="ko-KR" altLang="en-US" smtClean="0"/>
              <a:t>2022-02-14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4CDC7-4371-AD40-86F2-C5452BFDFFB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19207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C58F8-F9D5-A14E-83EB-74B7DD907103}" type="datetimeFigureOut">
              <a:rPr kumimoji="1" lang="ko-KR" altLang="en-US" smtClean="0"/>
              <a:t>2022-02-14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4CDC7-4371-AD40-86F2-C5452BFDFFB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51441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33A0CEA1-1BF7-4D4D-9C48-586B9B1A5A91}"/>
              </a:ext>
            </a:extLst>
          </p:cNvPr>
          <p:cNvSpPr/>
          <p:nvPr/>
        </p:nvSpPr>
        <p:spPr>
          <a:xfrm>
            <a:off x="235570" y="265813"/>
            <a:ext cx="9670430" cy="63610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0" name="대각선 방향의 모서리가 둥근 사각형 14">
            <a:extLst>
              <a:ext uri="{FF2B5EF4-FFF2-40B4-BE49-F238E27FC236}">
                <a16:creationId xmlns:a16="http://schemas.microsoft.com/office/drawing/2014/main" id="{D1C26B7F-EE78-4130-9516-6D9408C003C4}"/>
              </a:ext>
            </a:extLst>
          </p:cNvPr>
          <p:cNvSpPr/>
          <p:nvPr/>
        </p:nvSpPr>
        <p:spPr>
          <a:xfrm>
            <a:off x="6628620" y="4122682"/>
            <a:ext cx="2210164" cy="1546597"/>
          </a:xfrm>
          <a:prstGeom prst="round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2B6F80A-6DC8-814B-A264-A6A5E59695BE}"/>
              </a:ext>
            </a:extLst>
          </p:cNvPr>
          <p:cNvSpPr/>
          <p:nvPr/>
        </p:nvSpPr>
        <p:spPr>
          <a:xfrm>
            <a:off x="1182441" y="2298821"/>
            <a:ext cx="2698031" cy="109873"/>
          </a:xfrm>
          <a:prstGeom prst="rect">
            <a:avLst/>
          </a:prstGeom>
          <a:solidFill>
            <a:srgbClr val="EC8A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EAB326-281E-AF4A-BBED-7D47512632B9}"/>
              </a:ext>
            </a:extLst>
          </p:cNvPr>
          <p:cNvSpPr txBox="1"/>
          <p:nvPr/>
        </p:nvSpPr>
        <p:spPr>
          <a:xfrm>
            <a:off x="1182441" y="1783523"/>
            <a:ext cx="2733184" cy="6424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575" dirty="0">
                <a:latin typeface="KoreanYNMYTL" panose="02020600000000000000" pitchFamily="18" charset="-127"/>
                <a:ea typeface="KoreanYNMYTL" panose="02020600000000000000" pitchFamily="18" charset="-127"/>
              </a:rPr>
              <a:t>PORTFOLIO</a:t>
            </a:r>
            <a:endParaRPr kumimoji="1" lang="ko-KR" altLang="en-US" sz="3575" dirty="0">
              <a:latin typeface="KoreanYNMYTL" panose="02020600000000000000" pitchFamily="18" charset="-127"/>
              <a:ea typeface="KoreanYNMYTL" panose="02020600000000000000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B1CAE1-9264-3742-95EB-8AD113FAE1A0}"/>
              </a:ext>
            </a:extLst>
          </p:cNvPr>
          <p:cNvSpPr txBox="1"/>
          <p:nvPr/>
        </p:nvSpPr>
        <p:spPr>
          <a:xfrm>
            <a:off x="3006852" y="2431743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b="1" dirty="0">
                <a:latin typeface="Arita-dotum(OTF) Medium" panose="02020603020101020101" pitchFamily="18" charset="-127"/>
                <a:ea typeface="Arita-dotum(OTF) Medium" panose="02020603020101020101" pitchFamily="18" charset="-127"/>
              </a:rPr>
              <a:t>이동훈</a:t>
            </a:r>
          </a:p>
        </p:txBody>
      </p:sp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46A20D97-0603-2E49-ACE0-69C21E2CFC9B}"/>
              </a:ext>
            </a:extLst>
          </p:cNvPr>
          <p:cNvCxnSpPr>
            <a:cxnSpLocks/>
          </p:cNvCxnSpPr>
          <p:nvPr/>
        </p:nvCxnSpPr>
        <p:spPr>
          <a:xfrm>
            <a:off x="6487732" y="2986893"/>
            <a:ext cx="0" cy="276947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71438EE-0723-F847-A6AB-BAC57423D7B6}"/>
              </a:ext>
            </a:extLst>
          </p:cNvPr>
          <p:cNvSpPr txBox="1"/>
          <p:nvPr/>
        </p:nvSpPr>
        <p:spPr>
          <a:xfrm>
            <a:off x="6689987" y="4244603"/>
            <a:ext cx="2087431" cy="1343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Arita-dotum(OTF) Medium" panose="02020603020101020101" pitchFamily="18" charset="-127"/>
                <a:ea typeface="Arita-dotum(OTF) Medium" panose="02020603020101020101" pitchFamily="18" charset="-127"/>
              </a:rPr>
              <a:t>01. </a:t>
            </a:r>
            <a:r>
              <a:rPr kumimoji="1" lang="ko-KR" altLang="en-US" sz="1400" dirty="0">
                <a:latin typeface="Arita-dotum(OTF) Medium" panose="02020603020101020101" pitchFamily="18" charset="-127"/>
                <a:ea typeface="Arita-dotum(OTF) Medium" panose="02020603020101020101" pitchFamily="18" charset="-127"/>
              </a:rPr>
              <a:t>인적사항</a:t>
            </a:r>
            <a:endParaRPr kumimoji="1" lang="en-US" altLang="ko-KR" sz="1400" dirty="0">
              <a:latin typeface="Arita-dotum(OTF) Medium" panose="02020603020101020101" pitchFamily="18" charset="-127"/>
              <a:ea typeface="Arita-dotum(OTF) Medium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Arita-dotum(OTF) Medium" panose="02020603020101020101" pitchFamily="18" charset="-127"/>
                <a:ea typeface="Arita-dotum(OTF) Medium" panose="02020603020101020101" pitchFamily="18" charset="-127"/>
              </a:rPr>
              <a:t>02. </a:t>
            </a:r>
            <a:r>
              <a:rPr kumimoji="1" lang="ko-KR" altLang="en-US" sz="1400" dirty="0">
                <a:latin typeface="Arita-dotum(OTF) Medium" panose="02020603020101020101" pitchFamily="18" charset="-127"/>
                <a:ea typeface="Arita-dotum(OTF) Medium" panose="02020603020101020101" pitchFamily="18" charset="-127"/>
              </a:rPr>
              <a:t>이수 과목</a:t>
            </a:r>
            <a:endParaRPr kumimoji="1" lang="en-US" altLang="ko-KR" sz="1400" dirty="0">
              <a:latin typeface="Arita-dotum(OTF) Medium" panose="02020603020101020101" pitchFamily="18" charset="-127"/>
              <a:ea typeface="Arita-dotum(OTF) Medium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Arita-dotum(OTF) Medium" panose="02020603020101020101" pitchFamily="18" charset="-127"/>
                <a:ea typeface="Arita-dotum(OTF) Medium" panose="02020603020101020101" pitchFamily="18" charset="-127"/>
              </a:rPr>
              <a:t>03. PROJECTS</a:t>
            </a: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Arita-dotum(OTF) Medium" panose="02020603020101020101" pitchFamily="18" charset="-127"/>
                <a:ea typeface="Arita-dotum(OTF) Medium" panose="02020603020101020101" pitchFamily="18" charset="-127"/>
              </a:rPr>
              <a:t>04. </a:t>
            </a:r>
            <a:r>
              <a:rPr kumimoji="1" lang="ko-KR" altLang="en-US" sz="1400" dirty="0">
                <a:latin typeface="Arita-dotum(OTF) Medium" panose="02020603020101020101" pitchFamily="18" charset="-127"/>
                <a:ea typeface="Arita-dotum(OTF) Medium" panose="02020603020101020101" pitchFamily="18" charset="-127"/>
              </a:rPr>
              <a:t>수상</a:t>
            </a:r>
            <a:r>
              <a:rPr kumimoji="1" lang="en-US" altLang="ko-KR" sz="1400">
                <a:latin typeface="Arita-dotum(OTF) Medium" panose="02020603020101020101" pitchFamily="18" charset="-127"/>
                <a:ea typeface="Arita-dotum(OTF) Medium" panose="02020603020101020101" pitchFamily="18" charset="-127"/>
              </a:rPr>
              <a:t>/</a:t>
            </a:r>
            <a:r>
              <a:rPr kumimoji="1" lang="ko-KR" altLang="en-US" sz="1400">
                <a:latin typeface="Arita-dotum(OTF) Medium" panose="02020603020101020101" pitchFamily="18" charset="-127"/>
                <a:ea typeface="Arita-dotum(OTF) Medium" panose="02020603020101020101" pitchFamily="18" charset="-127"/>
              </a:rPr>
              <a:t>자격증</a:t>
            </a:r>
            <a:endParaRPr kumimoji="1" lang="en-US" altLang="ko-KR" sz="1400" dirty="0">
              <a:latin typeface="Arita-dotum(OTF) Medium" panose="02020603020101020101" pitchFamily="18" charset="-127"/>
              <a:ea typeface="Arita-dotum(OTF)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9172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B3F9EF3-0CD7-BF45-A62B-CCE747692D8B}"/>
              </a:ext>
            </a:extLst>
          </p:cNvPr>
          <p:cNvSpPr/>
          <p:nvPr/>
        </p:nvSpPr>
        <p:spPr>
          <a:xfrm>
            <a:off x="0" y="36543"/>
            <a:ext cx="9906000" cy="68746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639B609-FDB8-4054-A7DD-E990A10D053A}"/>
              </a:ext>
            </a:extLst>
          </p:cNvPr>
          <p:cNvSpPr/>
          <p:nvPr/>
        </p:nvSpPr>
        <p:spPr>
          <a:xfrm>
            <a:off x="494623" y="2497208"/>
            <a:ext cx="2593807" cy="1901523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3D478C5-CCF6-44F7-A542-6289E638DB2E}"/>
              </a:ext>
            </a:extLst>
          </p:cNvPr>
          <p:cNvGrpSpPr/>
          <p:nvPr/>
        </p:nvGrpSpPr>
        <p:grpSpPr>
          <a:xfrm>
            <a:off x="351449" y="452819"/>
            <a:ext cx="3365503" cy="665459"/>
            <a:chOff x="351449" y="452819"/>
            <a:chExt cx="3365503" cy="66545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B2A80A1-4A14-CF41-AF3A-15347EA9E51C}"/>
                </a:ext>
              </a:extLst>
            </p:cNvPr>
            <p:cNvSpPr txBox="1"/>
            <p:nvPr/>
          </p:nvSpPr>
          <p:spPr>
            <a:xfrm>
              <a:off x="463182" y="864362"/>
              <a:ext cx="128227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인적사항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2E86737-F2D1-0649-AE34-129E3A926E09}"/>
                </a:ext>
              </a:extLst>
            </p:cNvPr>
            <p:cNvSpPr txBox="1"/>
            <p:nvPr/>
          </p:nvSpPr>
          <p:spPr>
            <a:xfrm>
              <a:off x="1164070" y="864362"/>
              <a:ext cx="83016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이수 과목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834D46C-4A8C-5641-B077-DEFADAD4EEBF}"/>
                </a:ext>
              </a:extLst>
            </p:cNvPr>
            <p:cNvSpPr txBox="1"/>
            <p:nvPr/>
          </p:nvSpPr>
          <p:spPr>
            <a:xfrm>
              <a:off x="1881749" y="864362"/>
              <a:ext cx="1282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PROJECTS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D33D7D2-AE51-ED45-8CC5-D6FADF443A13}"/>
                </a:ext>
              </a:extLst>
            </p:cNvPr>
            <p:cNvSpPr txBox="1"/>
            <p:nvPr/>
          </p:nvSpPr>
          <p:spPr>
            <a:xfrm>
              <a:off x="2522887" y="864362"/>
              <a:ext cx="119406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수상</a:t>
              </a:r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/</a:t>
              </a:r>
              <a:r>
                <a: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자격증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BC9F4F5-B0EA-FA40-822C-13C8801D49AB}"/>
                </a:ext>
              </a:extLst>
            </p:cNvPr>
            <p:cNvSpPr txBox="1"/>
            <p:nvPr/>
          </p:nvSpPr>
          <p:spPr>
            <a:xfrm>
              <a:off x="351449" y="452819"/>
              <a:ext cx="28367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solidFill>
                    <a:srgbClr val="EC8A62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  </a:t>
              </a:r>
              <a:r>
                <a:rPr lang="en-US" altLang="ko-KR" b="1" dirty="0">
                  <a:solidFill>
                    <a:srgbClr val="EC8A62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[PORTFOLIO] </a:t>
              </a:r>
              <a:r>
                <a:rPr lang="ko-KR" altLang="en-US" b="1" dirty="0">
                  <a:solidFill>
                    <a:srgbClr val="EC8A62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이동훈</a:t>
              </a:r>
              <a:endParaRPr lang="ko-KR" altLang="en-US" sz="1000" b="1" dirty="0">
                <a:solidFill>
                  <a:srgbClr val="EC8A62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B1A1F905-BF13-E743-9880-7EAEAC7961E9}"/>
              </a:ext>
            </a:extLst>
          </p:cNvPr>
          <p:cNvSpPr txBox="1"/>
          <p:nvPr/>
        </p:nvSpPr>
        <p:spPr>
          <a:xfrm>
            <a:off x="494623" y="4494450"/>
            <a:ext cx="25938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100" b="1" dirty="0">
                <a:latin typeface="Arita-dotum(OTF) Medium" panose="02020603020101020101" pitchFamily="18" charset="-127"/>
                <a:ea typeface="Arita-dotum(OTF) Medium" panose="02020603020101020101" pitchFamily="18" charset="-127"/>
              </a:rPr>
              <a:t>이동훈</a:t>
            </a:r>
          </a:p>
          <a:p>
            <a:r>
              <a:rPr kumimoji="1" lang="en-US" altLang="ko-KR" sz="1100" dirty="0">
                <a:latin typeface="KoreanYNMYTL" panose="02020600000000000000" pitchFamily="18" charset="-127"/>
                <a:ea typeface="KoreanYNMYTL" panose="02020600000000000000" pitchFamily="18" charset="-127"/>
              </a:rPr>
              <a:t>	</a:t>
            </a:r>
            <a:endParaRPr kumimoji="1" lang="ko-KR" altLang="en-US" sz="1100" dirty="0">
              <a:latin typeface="KoreanYNMYTL" panose="02020600000000000000" pitchFamily="18" charset="-127"/>
              <a:ea typeface="KoreanYNMYTL" panose="02020600000000000000" pitchFamily="18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C74F60-D49C-A948-A65F-FA857D21B798}"/>
              </a:ext>
            </a:extLst>
          </p:cNvPr>
          <p:cNvSpPr txBox="1"/>
          <p:nvPr/>
        </p:nvSpPr>
        <p:spPr>
          <a:xfrm>
            <a:off x="3397572" y="2703613"/>
            <a:ext cx="874292" cy="755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이름</a:t>
            </a:r>
            <a:endParaRPr lang="en-US" altLang="ko-KR" sz="1000" dirty="0">
              <a:solidFill>
                <a:schemeClr val="tx1">
                  <a:lumMod val="50000"/>
                  <a:lumOff val="50000"/>
                </a:schemeClr>
              </a:solidFill>
              <a:latin typeface="Arita-dotum(TTF) Medium" panose="02020603020101020101" pitchFamily="18" charset="-127"/>
              <a:ea typeface="Arita-dotum(TTF) Medium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생년월일</a:t>
            </a:r>
            <a:endParaRPr lang="en-US" altLang="ko-KR" sz="1000" dirty="0">
              <a:solidFill>
                <a:schemeClr val="tx1">
                  <a:lumMod val="50000"/>
                  <a:lumOff val="50000"/>
                </a:schemeClr>
              </a:solidFill>
              <a:latin typeface="Arita-dotum(TTF) Medium" panose="02020603020101020101" pitchFamily="18" charset="-127"/>
              <a:ea typeface="Arita-dotum(TTF) Medium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학력정보</a:t>
            </a:r>
            <a:endParaRPr lang="en-US" altLang="ko-KR" sz="1000" dirty="0">
              <a:solidFill>
                <a:schemeClr val="tx1">
                  <a:lumMod val="50000"/>
                  <a:lumOff val="50000"/>
                </a:schemeClr>
              </a:solidFill>
              <a:latin typeface="Arita-dotum(TTF) Medium" panose="02020603020101020101" pitchFamily="18" charset="-127"/>
              <a:ea typeface="Arita-dotum(TTF) Medium" panose="02020603020101020101" pitchFamily="18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9BE264D-0869-5E4C-9150-9E9A806B5851}"/>
              </a:ext>
            </a:extLst>
          </p:cNvPr>
          <p:cNvSpPr txBox="1"/>
          <p:nvPr/>
        </p:nvSpPr>
        <p:spPr>
          <a:xfrm>
            <a:off x="4142545" y="2696291"/>
            <a:ext cx="2406730" cy="985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이동훈 </a:t>
            </a:r>
            <a:r>
              <a:rPr lang="en-US" altLang="ko-KR" sz="1000" dirty="0"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   Hun-Dong Lee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1993.08.04</a:t>
            </a:r>
          </a:p>
          <a:p>
            <a:pPr>
              <a:lnSpc>
                <a:spcPct val="150000"/>
              </a:lnSpc>
            </a:pPr>
            <a:r>
              <a:rPr lang="ko-KR" altLang="en-US" sz="1000" dirty="0" err="1"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당곡고등학교</a:t>
            </a:r>
            <a:r>
              <a:rPr lang="ko-KR" altLang="en-US" sz="1000" dirty="0"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 </a:t>
            </a:r>
            <a:r>
              <a:rPr lang="en-US" altLang="ko-KR" sz="1000" dirty="0"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2009.03 ~ 2012.02 (</a:t>
            </a:r>
            <a:r>
              <a:rPr lang="ko-KR" altLang="en-US" sz="1000" dirty="0"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졸업</a:t>
            </a:r>
            <a:r>
              <a:rPr lang="en-US" altLang="ko-KR" sz="1000" dirty="0"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백석대학교</a:t>
            </a:r>
            <a:r>
              <a:rPr lang="en-US" altLang="ko-KR" sz="1000" dirty="0"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 2013.03 ~ 2019.02 (</a:t>
            </a:r>
            <a:r>
              <a:rPr lang="ko-KR" altLang="en-US" sz="1000" dirty="0"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졸업</a:t>
            </a:r>
            <a:r>
              <a:rPr lang="en-US" altLang="ko-KR" sz="1000" dirty="0"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)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C3165B-8F13-6D49-BD71-6AD7537CDB12}"/>
              </a:ext>
            </a:extLst>
          </p:cNvPr>
          <p:cNvSpPr txBox="1"/>
          <p:nvPr/>
        </p:nvSpPr>
        <p:spPr>
          <a:xfrm>
            <a:off x="3397572" y="3970724"/>
            <a:ext cx="874292" cy="945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전화번호</a:t>
            </a:r>
            <a:endParaRPr lang="en-US" altLang="ko-KR" sz="1000" dirty="0">
              <a:solidFill>
                <a:schemeClr val="tx1">
                  <a:lumMod val="50000"/>
                  <a:lumOff val="50000"/>
                </a:schemeClr>
              </a:solidFill>
              <a:latin typeface="Arita-dotum(TTF) Medium" panose="02020603020101020101" pitchFamily="18" charset="-127"/>
              <a:ea typeface="Arita-dotum(TTF) Medium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이메일</a:t>
            </a:r>
            <a:endParaRPr lang="en-US" altLang="ko-KR" sz="1000" dirty="0">
              <a:solidFill>
                <a:schemeClr val="tx1">
                  <a:lumMod val="50000"/>
                  <a:lumOff val="50000"/>
                </a:schemeClr>
              </a:solidFill>
              <a:latin typeface="Arita-dotum(TTF) Medium" panose="02020603020101020101" pitchFamily="18" charset="-127"/>
              <a:ea typeface="Arita-dotum(TTF) Medium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GitHub</a:t>
            </a:r>
          </a:p>
          <a:p>
            <a:pPr>
              <a:lnSpc>
                <a:spcPct val="150000"/>
              </a:lnSpc>
            </a:pP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Arita-dotum(TTF) Medium" panose="02020603020101020101" pitchFamily="18" charset="-127"/>
              <a:ea typeface="Arita-dotum(TTF) Medium" panose="02020603020101020101" pitchFamily="18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27FB6DC-2118-A146-B050-631230547F78}"/>
              </a:ext>
            </a:extLst>
          </p:cNvPr>
          <p:cNvSpPr txBox="1"/>
          <p:nvPr/>
        </p:nvSpPr>
        <p:spPr>
          <a:xfrm>
            <a:off x="4098573" y="3960723"/>
            <a:ext cx="2406729" cy="760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82+ 010.9986.8443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programmer_h@naver.com</a:t>
            </a:r>
          </a:p>
          <a:p>
            <a:pPr>
              <a:lnSpc>
                <a:spcPct val="150000"/>
              </a:lnSpc>
            </a:pPr>
            <a:r>
              <a:rPr lang="en-US" altLang="ko-KR" sz="1000" dirty="0"/>
              <a:t>https://github.com/programmerDH-github</a:t>
            </a:r>
          </a:p>
        </p:txBody>
      </p:sp>
      <p:cxnSp>
        <p:nvCxnSpPr>
          <p:cNvPr id="35" name="직선 연결선 14">
            <a:extLst>
              <a:ext uri="{FF2B5EF4-FFF2-40B4-BE49-F238E27FC236}">
                <a16:creationId xmlns:a16="http://schemas.microsoft.com/office/drawing/2014/main" id="{25A0FD3C-B1B1-5643-A166-D1770CDCF885}"/>
              </a:ext>
            </a:extLst>
          </p:cNvPr>
          <p:cNvCxnSpPr>
            <a:cxnSpLocks/>
          </p:cNvCxnSpPr>
          <p:nvPr/>
        </p:nvCxnSpPr>
        <p:spPr>
          <a:xfrm>
            <a:off x="3467384" y="2631372"/>
            <a:ext cx="87429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EEF2267-E146-B642-8B3C-65C8B2EA3107}"/>
              </a:ext>
            </a:extLst>
          </p:cNvPr>
          <p:cNvSpPr txBox="1"/>
          <p:nvPr/>
        </p:nvSpPr>
        <p:spPr>
          <a:xfrm>
            <a:off x="3435093" y="2352488"/>
            <a:ext cx="2098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EC8A62"/>
                </a:solidFill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PROFILE</a:t>
            </a:r>
            <a:endParaRPr lang="en-US" altLang="ko-KR" b="1" dirty="0">
              <a:solidFill>
                <a:srgbClr val="EC8A62"/>
              </a:solidFill>
              <a:latin typeface="Arita-dotum(TTF) Medium" panose="02020603020101020101" pitchFamily="18" charset="-127"/>
              <a:ea typeface="Arita-dotum(TTF) Medium" panose="02020603020101020101" pitchFamily="18" charset="-127"/>
            </a:endParaRPr>
          </a:p>
        </p:txBody>
      </p:sp>
      <p:cxnSp>
        <p:nvCxnSpPr>
          <p:cNvPr id="37" name="직선 연결선 14">
            <a:extLst>
              <a:ext uri="{FF2B5EF4-FFF2-40B4-BE49-F238E27FC236}">
                <a16:creationId xmlns:a16="http://schemas.microsoft.com/office/drawing/2014/main" id="{D721A74E-F58E-CD44-98D4-AA4E01F03C92}"/>
              </a:ext>
            </a:extLst>
          </p:cNvPr>
          <p:cNvCxnSpPr>
            <a:cxnSpLocks/>
          </p:cNvCxnSpPr>
          <p:nvPr/>
        </p:nvCxnSpPr>
        <p:spPr>
          <a:xfrm>
            <a:off x="3447850" y="3846962"/>
            <a:ext cx="87429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5F76836-CD86-874A-B5A5-A8758E5488EE}"/>
              </a:ext>
            </a:extLst>
          </p:cNvPr>
          <p:cNvSpPr txBox="1"/>
          <p:nvPr/>
        </p:nvSpPr>
        <p:spPr>
          <a:xfrm>
            <a:off x="3385405" y="3589492"/>
            <a:ext cx="2098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EC8A62"/>
                </a:solidFill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CONTACTS</a:t>
            </a:r>
            <a:endParaRPr lang="en-US" altLang="ko-KR" b="1" dirty="0">
              <a:solidFill>
                <a:srgbClr val="EC8A62"/>
              </a:solidFill>
              <a:latin typeface="Arita-dotum(TTF) Medium" panose="02020603020101020101" pitchFamily="18" charset="-127"/>
              <a:ea typeface="Arita-dotum(TTF) Medium" panose="02020603020101020101" pitchFamily="18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EEF91FE-7A5C-4BF8-AED7-D8E796C27D77}"/>
              </a:ext>
            </a:extLst>
          </p:cNvPr>
          <p:cNvSpPr/>
          <p:nvPr/>
        </p:nvSpPr>
        <p:spPr>
          <a:xfrm>
            <a:off x="6838396" y="2545351"/>
            <a:ext cx="142613" cy="134086"/>
          </a:xfrm>
          <a:prstGeom prst="ellipse">
            <a:avLst/>
          </a:prstGeom>
          <a:solidFill>
            <a:srgbClr val="EC8A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EE713D6-6A80-4E23-829A-190A9387744C}"/>
              </a:ext>
            </a:extLst>
          </p:cNvPr>
          <p:cNvSpPr txBox="1"/>
          <p:nvPr/>
        </p:nvSpPr>
        <p:spPr>
          <a:xfrm>
            <a:off x="6982597" y="2478308"/>
            <a:ext cx="128227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SKILL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2" name="대각선 방향의 모서리가 둥근 사각형 24">
            <a:extLst>
              <a:ext uri="{FF2B5EF4-FFF2-40B4-BE49-F238E27FC236}">
                <a16:creationId xmlns:a16="http://schemas.microsoft.com/office/drawing/2014/main" id="{92B62CB1-CAB6-49B5-ABBC-004ECAE53C11}"/>
              </a:ext>
            </a:extLst>
          </p:cNvPr>
          <p:cNvSpPr/>
          <p:nvPr/>
        </p:nvSpPr>
        <p:spPr>
          <a:xfrm>
            <a:off x="6846007" y="2707487"/>
            <a:ext cx="1960322" cy="1870340"/>
          </a:xfrm>
          <a:prstGeom prst="round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pic>
        <p:nvPicPr>
          <p:cNvPr id="1032" name="Picture 8" descr="Java에 대한 이미지 검색결과">
            <a:extLst>
              <a:ext uri="{FF2B5EF4-FFF2-40B4-BE49-F238E27FC236}">
                <a16:creationId xmlns:a16="http://schemas.microsoft.com/office/drawing/2014/main" id="{2C536C25-A137-47C7-82FE-AF2E81819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462" y="2800737"/>
            <a:ext cx="352979" cy="645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20" descr="python iconì ëí ì´ë¯¸ì§ ê²ìê²°ê³¼">
            <a:extLst>
              <a:ext uri="{FF2B5EF4-FFF2-40B4-BE49-F238E27FC236}">
                <a16:creationId xmlns:a16="http://schemas.microsoft.com/office/drawing/2014/main" id="{9FE9647C-ECA5-4745-B926-634CB2923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1105" y="2882003"/>
            <a:ext cx="1127538" cy="563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4" descr="androidì ëí ì´ë¯¸ì§ ê²ìê²°ê³¼">
            <a:extLst>
              <a:ext uri="{FF2B5EF4-FFF2-40B4-BE49-F238E27FC236}">
                <a16:creationId xmlns:a16="http://schemas.microsoft.com/office/drawing/2014/main" id="{7F231EB5-E623-4BFD-B3F1-EAF979642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7734" y="3663353"/>
            <a:ext cx="561863" cy="659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mazon.com: Oracle DB 11g Errors Guide: Appstore for Android">
            <a:extLst>
              <a:ext uri="{FF2B5EF4-FFF2-40B4-BE49-F238E27FC236}">
                <a16:creationId xmlns:a16="http://schemas.microsoft.com/office/drawing/2014/main" id="{51BB1391-4DCD-4864-80DD-C34881573B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9100" y="3674951"/>
            <a:ext cx="751114" cy="751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3EDAE88-CF79-4418-9408-FD6D4AC59A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309" y="2525887"/>
            <a:ext cx="1408300" cy="187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870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B3F9EF3-0CD7-BF45-A62B-CCE747692D8B}"/>
              </a:ext>
            </a:extLst>
          </p:cNvPr>
          <p:cNvSpPr/>
          <p:nvPr/>
        </p:nvSpPr>
        <p:spPr>
          <a:xfrm>
            <a:off x="235570" y="218114"/>
            <a:ext cx="9670430" cy="64265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9841663-FA72-4E7F-A695-3405A3570159}"/>
              </a:ext>
            </a:extLst>
          </p:cNvPr>
          <p:cNvGrpSpPr/>
          <p:nvPr/>
        </p:nvGrpSpPr>
        <p:grpSpPr>
          <a:xfrm>
            <a:off x="986742" y="2435600"/>
            <a:ext cx="1426478" cy="321028"/>
            <a:chOff x="986742" y="1912828"/>
            <a:chExt cx="1426478" cy="321028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0EEF91FE-7A5C-4BF8-AED7-D8E796C27D77}"/>
                </a:ext>
              </a:extLst>
            </p:cNvPr>
            <p:cNvSpPr/>
            <p:nvPr/>
          </p:nvSpPr>
          <p:spPr>
            <a:xfrm>
              <a:off x="986742" y="1979871"/>
              <a:ext cx="142613" cy="134086"/>
            </a:xfrm>
            <a:prstGeom prst="ellipse">
              <a:avLst/>
            </a:prstGeom>
            <a:solidFill>
              <a:srgbClr val="EC8A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EE713D6-6A80-4E23-829A-190A9387744C}"/>
                </a:ext>
              </a:extLst>
            </p:cNvPr>
            <p:cNvSpPr txBox="1"/>
            <p:nvPr/>
          </p:nvSpPr>
          <p:spPr>
            <a:xfrm>
              <a:off x="1130943" y="1912828"/>
              <a:ext cx="12822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2013</a:t>
              </a:r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년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(1</a:t>
              </a:r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학년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)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51010284-B82E-4DC1-8BDF-1A54EFC42958}"/>
                </a:ext>
              </a:extLst>
            </p:cNvPr>
            <p:cNvCxnSpPr/>
            <p:nvPr/>
          </p:nvCxnSpPr>
          <p:spPr>
            <a:xfrm>
              <a:off x="986742" y="2233856"/>
              <a:ext cx="1331179" cy="0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8A00DCD-1DBF-44C6-96DA-97DD2912D6B1}"/>
              </a:ext>
            </a:extLst>
          </p:cNvPr>
          <p:cNvGrpSpPr/>
          <p:nvPr/>
        </p:nvGrpSpPr>
        <p:grpSpPr>
          <a:xfrm>
            <a:off x="3180476" y="2435600"/>
            <a:ext cx="1426478" cy="321028"/>
            <a:chOff x="3222656" y="1878216"/>
            <a:chExt cx="1426478" cy="321028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B0F0F36E-5791-4C2A-B592-4C7BCF6F39AA}"/>
                </a:ext>
              </a:extLst>
            </p:cNvPr>
            <p:cNvSpPr/>
            <p:nvPr/>
          </p:nvSpPr>
          <p:spPr>
            <a:xfrm>
              <a:off x="3222656" y="1945259"/>
              <a:ext cx="142613" cy="134086"/>
            </a:xfrm>
            <a:prstGeom prst="ellipse">
              <a:avLst/>
            </a:prstGeom>
            <a:solidFill>
              <a:srgbClr val="EC8A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251650B-8975-49C2-9EA6-53C6AFBE3B3A}"/>
                </a:ext>
              </a:extLst>
            </p:cNvPr>
            <p:cNvSpPr txBox="1"/>
            <p:nvPr/>
          </p:nvSpPr>
          <p:spPr>
            <a:xfrm>
              <a:off x="3366857" y="1878216"/>
              <a:ext cx="12822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2016</a:t>
              </a:r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년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(2</a:t>
              </a:r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학년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)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CCB65772-5F9F-429E-B30A-F14DC4A6CB81}"/>
                </a:ext>
              </a:extLst>
            </p:cNvPr>
            <p:cNvCxnSpPr/>
            <p:nvPr/>
          </p:nvCxnSpPr>
          <p:spPr>
            <a:xfrm>
              <a:off x="3222656" y="2199244"/>
              <a:ext cx="1331179" cy="0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19D1A5C-AC0F-4368-92D5-2FFF758F9E60}"/>
              </a:ext>
            </a:extLst>
          </p:cNvPr>
          <p:cNvGrpSpPr/>
          <p:nvPr/>
        </p:nvGrpSpPr>
        <p:grpSpPr>
          <a:xfrm>
            <a:off x="5294560" y="2435600"/>
            <a:ext cx="1426478" cy="321028"/>
            <a:chOff x="5144826" y="1878117"/>
            <a:chExt cx="1426478" cy="321028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037563C2-D998-4FDA-A6D5-8E1A5B1164BE}"/>
                </a:ext>
              </a:extLst>
            </p:cNvPr>
            <p:cNvSpPr/>
            <p:nvPr/>
          </p:nvSpPr>
          <p:spPr>
            <a:xfrm>
              <a:off x="5144826" y="1945160"/>
              <a:ext cx="142613" cy="134086"/>
            </a:xfrm>
            <a:prstGeom prst="ellipse">
              <a:avLst/>
            </a:prstGeom>
            <a:solidFill>
              <a:srgbClr val="EC8A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4EEAD04-8921-4432-A7EC-467A67277D8C}"/>
                </a:ext>
              </a:extLst>
            </p:cNvPr>
            <p:cNvSpPr txBox="1"/>
            <p:nvPr/>
          </p:nvSpPr>
          <p:spPr>
            <a:xfrm>
              <a:off x="5289027" y="1878117"/>
              <a:ext cx="12822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2017</a:t>
              </a:r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년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(3</a:t>
              </a:r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학년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)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203C9559-3C68-4808-A397-E22F8F091C4C}"/>
                </a:ext>
              </a:extLst>
            </p:cNvPr>
            <p:cNvCxnSpPr/>
            <p:nvPr/>
          </p:nvCxnSpPr>
          <p:spPr>
            <a:xfrm>
              <a:off x="5144826" y="2199145"/>
              <a:ext cx="1331179" cy="0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5E13F69-4372-4DF0-957A-6479C0B6D8EC}"/>
              </a:ext>
            </a:extLst>
          </p:cNvPr>
          <p:cNvGrpSpPr/>
          <p:nvPr/>
        </p:nvGrpSpPr>
        <p:grpSpPr>
          <a:xfrm>
            <a:off x="7448469" y="2435600"/>
            <a:ext cx="1426478" cy="321028"/>
            <a:chOff x="7448469" y="1912828"/>
            <a:chExt cx="1426478" cy="321028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7381582D-F405-45E2-B04D-B98402E9FDD2}"/>
                </a:ext>
              </a:extLst>
            </p:cNvPr>
            <p:cNvSpPr/>
            <p:nvPr/>
          </p:nvSpPr>
          <p:spPr>
            <a:xfrm>
              <a:off x="7448469" y="1979871"/>
              <a:ext cx="142613" cy="134086"/>
            </a:xfrm>
            <a:prstGeom prst="ellipse">
              <a:avLst/>
            </a:prstGeom>
            <a:solidFill>
              <a:srgbClr val="EC8A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D13A81A-4D3D-45EB-AD28-FF57AF4F611A}"/>
                </a:ext>
              </a:extLst>
            </p:cNvPr>
            <p:cNvSpPr txBox="1"/>
            <p:nvPr/>
          </p:nvSpPr>
          <p:spPr>
            <a:xfrm>
              <a:off x="7592670" y="1912828"/>
              <a:ext cx="12822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2018</a:t>
              </a:r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년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(4</a:t>
              </a:r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학년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)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62F3280E-9E24-4756-AAE1-AAE3E4BFBC89}"/>
                </a:ext>
              </a:extLst>
            </p:cNvPr>
            <p:cNvCxnSpPr/>
            <p:nvPr/>
          </p:nvCxnSpPr>
          <p:spPr>
            <a:xfrm>
              <a:off x="7448469" y="2233856"/>
              <a:ext cx="1331179" cy="0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5C6E34B-52CC-4F97-BEFE-6B9F8A8765B0}"/>
              </a:ext>
            </a:extLst>
          </p:cNvPr>
          <p:cNvGrpSpPr/>
          <p:nvPr/>
        </p:nvGrpSpPr>
        <p:grpSpPr>
          <a:xfrm>
            <a:off x="351449" y="452819"/>
            <a:ext cx="3391719" cy="657764"/>
            <a:chOff x="351449" y="452819"/>
            <a:chExt cx="3391719" cy="65776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8F833E8-8F1C-4F2C-B043-2BB1517545A7}"/>
                </a:ext>
              </a:extLst>
            </p:cNvPr>
            <p:cNvSpPr txBox="1"/>
            <p:nvPr/>
          </p:nvSpPr>
          <p:spPr>
            <a:xfrm>
              <a:off x="463182" y="864362"/>
              <a:ext cx="1282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solidFill>
                    <a:schemeClr val="accent3">
                      <a:lumMod val="75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인적사항</a:t>
              </a:r>
              <a:endParaRPr lang="ko-KR" altLang="en-US" sz="700" dirty="0">
                <a:solidFill>
                  <a:schemeClr val="accent3">
                    <a:lumMod val="75000"/>
                  </a:schemeClr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C5CF9C5-85C2-443A-B98D-6ADC4C80CE7A}"/>
                </a:ext>
              </a:extLst>
            </p:cNvPr>
            <p:cNvSpPr txBox="1"/>
            <p:nvPr/>
          </p:nvSpPr>
          <p:spPr>
            <a:xfrm>
              <a:off x="1164070" y="864362"/>
              <a:ext cx="8301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이수 과목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D0BBDD8-E932-49A7-8A07-3A6FF75A5CED}"/>
                </a:ext>
              </a:extLst>
            </p:cNvPr>
            <p:cNvSpPr txBox="1"/>
            <p:nvPr/>
          </p:nvSpPr>
          <p:spPr>
            <a:xfrm>
              <a:off x="1881749" y="864362"/>
              <a:ext cx="1282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PROJECTS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7506DA1-BBA7-4A2C-B2D5-5C2161698D38}"/>
                </a:ext>
              </a:extLst>
            </p:cNvPr>
            <p:cNvSpPr txBox="1"/>
            <p:nvPr/>
          </p:nvSpPr>
          <p:spPr>
            <a:xfrm>
              <a:off x="2549103" y="864362"/>
              <a:ext cx="119406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수상</a:t>
              </a:r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/</a:t>
              </a:r>
              <a:r>
                <a: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자격증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49B61C5-F827-45F6-B70F-36AB20D8258A}"/>
                </a:ext>
              </a:extLst>
            </p:cNvPr>
            <p:cNvSpPr txBox="1"/>
            <p:nvPr/>
          </p:nvSpPr>
          <p:spPr>
            <a:xfrm>
              <a:off x="351449" y="452819"/>
              <a:ext cx="28367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solidFill>
                    <a:srgbClr val="EC8A62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  </a:t>
              </a:r>
              <a:r>
                <a:rPr lang="en-US" altLang="ko-KR" b="1" dirty="0">
                  <a:solidFill>
                    <a:srgbClr val="EC8A62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[PORTFOLIO] </a:t>
              </a:r>
              <a:r>
                <a:rPr lang="ko-KR" altLang="en-US" b="1" dirty="0">
                  <a:solidFill>
                    <a:srgbClr val="EC8A62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이동훈</a:t>
              </a:r>
            </a:p>
            <a:p>
              <a:endParaRPr lang="ko-KR" altLang="en-US" sz="1000" b="1" dirty="0">
                <a:solidFill>
                  <a:srgbClr val="EC8A62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60BE821E-350B-409C-9D0C-6EE5EB444D65}"/>
              </a:ext>
            </a:extLst>
          </p:cNvPr>
          <p:cNvGrpSpPr/>
          <p:nvPr/>
        </p:nvGrpSpPr>
        <p:grpSpPr>
          <a:xfrm>
            <a:off x="696572" y="3028377"/>
            <a:ext cx="2148723" cy="1412402"/>
            <a:chOff x="6621243" y="2657560"/>
            <a:chExt cx="986227" cy="110997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CEF3F76-63A0-4D7D-93FF-47CD020970B5}"/>
                </a:ext>
              </a:extLst>
            </p:cNvPr>
            <p:cNvSpPr txBox="1"/>
            <p:nvPr/>
          </p:nvSpPr>
          <p:spPr>
            <a:xfrm>
              <a:off x="6621243" y="2659714"/>
              <a:ext cx="986227" cy="108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기초프로그래밍 </a:t>
              </a:r>
              <a:endParaRPr kumimoji="1" lang="en-US" altLang="ko-KR" sz="12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  <a:p>
              <a:r>
                <a:rPr kumimoji="1" lang="en-US" altLang="ko-KR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C</a:t>
              </a:r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언어프로그래밍</a:t>
              </a:r>
              <a:endParaRPr kumimoji="1" lang="en-US" altLang="ko-KR" sz="12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  <a:p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이산수학</a:t>
              </a:r>
              <a:endParaRPr kumimoji="1" lang="en-US" altLang="ko-KR" sz="12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  <a:p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공업수학</a:t>
              </a:r>
              <a:endParaRPr kumimoji="1" lang="en-US" altLang="ko-KR" sz="12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  <a:p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컴퓨터정보통신의 이해</a:t>
              </a:r>
              <a:endParaRPr kumimoji="1" lang="en-US" altLang="ko-KR" sz="12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  <a:p>
              <a:endParaRPr kumimoji="1" lang="ko-KR" altLang="en-US" sz="12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C205E54-3521-4D99-98D2-B2BC7D2478D3}"/>
                </a:ext>
              </a:extLst>
            </p:cNvPr>
            <p:cNvSpPr txBox="1"/>
            <p:nvPr/>
          </p:nvSpPr>
          <p:spPr>
            <a:xfrm>
              <a:off x="7405387" y="2657560"/>
              <a:ext cx="186759" cy="798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A</a:t>
              </a:r>
            </a:p>
            <a:p>
              <a:r>
                <a:rPr kumimoji="1"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B+</a:t>
              </a:r>
            </a:p>
            <a:p>
              <a:r>
                <a:rPr kumimoji="1"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A</a:t>
              </a:r>
            </a:p>
            <a:p>
              <a:r>
                <a:rPr kumimoji="1"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B+</a:t>
              </a:r>
            </a:p>
            <a:p>
              <a:r>
                <a:rPr kumimoji="1"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A+</a:t>
              </a:r>
              <a:endParaRPr kumimoji="1"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6082C716-C98C-4444-8BD5-CDC2B71B5EB2}"/>
              </a:ext>
            </a:extLst>
          </p:cNvPr>
          <p:cNvGrpSpPr/>
          <p:nvPr/>
        </p:nvGrpSpPr>
        <p:grpSpPr>
          <a:xfrm>
            <a:off x="3018820" y="3000980"/>
            <a:ext cx="1893989" cy="1953892"/>
            <a:chOff x="6621243" y="2658543"/>
            <a:chExt cx="1053991" cy="153551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020519C-2B84-43AC-A644-4E01EB6EB22D}"/>
                </a:ext>
              </a:extLst>
            </p:cNvPr>
            <p:cNvSpPr txBox="1"/>
            <p:nvPr/>
          </p:nvSpPr>
          <p:spPr>
            <a:xfrm>
              <a:off x="6621243" y="2659714"/>
              <a:ext cx="986227" cy="1523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JAVA</a:t>
              </a:r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프로그래밍</a:t>
              </a:r>
              <a:endParaRPr kumimoji="1" lang="en-US" altLang="ko-KR" sz="12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  <a:p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정보보호개론 </a:t>
              </a:r>
              <a:endParaRPr kumimoji="1" lang="en-US" altLang="ko-KR" sz="12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  <a:p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운영체제론</a:t>
              </a:r>
              <a:endParaRPr kumimoji="1" lang="en-US" altLang="ko-KR" sz="12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  <a:p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자료구조론</a:t>
              </a:r>
              <a:endParaRPr kumimoji="1" lang="en-US" altLang="ko-KR" sz="12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  <a:p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데이터베이스이론</a:t>
              </a:r>
              <a:endParaRPr kumimoji="1" lang="en-US" altLang="ko-KR" sz="12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  <a:p>
              <a:r>
                <a:rPr kumimoji="1" lang="en-US" altLang="ko-KR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ICT</a:t>
              </a:r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융합개론</a:t>
              </a:r>
              <a:endParaRPr kumimoji="1" lang="en-US" altLang="ko-KR" sz="12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  <a:p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윈도우</a:t>
              </a:r>
              <a:r>
                <a:rPr kumimoji="1" lang="en-US" altLang="ko-KR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API</a:t>
              </a:r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프로그래밍</a:t>
              </a:r>
              <a:endParaRPr kumimoji="1" lang="en-US" altLang="ko-KR" sz="12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  <a:p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유닉스시스템</a:t>
              </a:r>
              <a:endParaRPr kumimoji="1" lang="en-US" altLang="ko-KR" sz="12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  <a:p>
              <a:endParaRPr kumimoji="1" lang="ko-KR" altLang="en-US" sz="12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88F87A4-67DF-43E7-A479-6CD31D77D1CE}"/>
                </a:ext>
              </a:extLst>
            </p:cNvPr>
            <p:cNvSpPr txBox="1"/>
            <p:nvPr/>
          </p:nvSpPr>
          <p:spPr>
            <a:xfrm>
              <a:off x="7503884" y="2658543"/>
              <a:ext cx="171350" cy="1233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A+</a:t>
              </a:r>
            </a:p>
            <a:p>
              <a:r>
                <a:rPr kumimoji="1"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A+</a:t>
              </a:r>
            </a:p>
            <a:p>
              <a:r>
                <a:rPr kumimoji="1"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A+</a:t>
              </a:r>
            </a:p>
            <a:p>
              <a:r>
                <a:rPr kumimoji="1"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A</a:t>
              </a:r>
            </a:p>
            <a:p>
              <a:r>
                <a:rPr kumimoji="1"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A+</a:t>
              </a:r>
            </a:p>
            <a:p>
              <a:r>
                <a:rPr kumimoji="1"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A</a:t>
              </a:r>
            </a:p>
            <a:p>
              <a:r>
                <a:rPr kumimoji="1"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A+</a:t>
              </a:r>
            </a:p>
            <a:p>
              <a:r>
                <a:rPr kumimoji="1"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A+</a:t>
              </a:r>
              <a:endParaRPr kumimoji="1"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BEC82D7D-317E-47CC-8239-3BA8EC5BFC7D}"/>
              </a:ext>
            </a:extLst>
          </p:cNvPr>
          <p:cNvGrpSpPr/>
          <p:nvPr/>
        </p:nvGrpSpPr>
        <p:grpSpPr>
          <a:xfrm>
            <a:off x="5132905" y="2995014"/>
            <a:ext cx="1990357" cy="1769231"/>
            <a:chOff x="6621243" y="2658543"/>
            <a:chExt cx="1107619" cy="139039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55908AD-69FA-411E-B39D-061F09FDBF49}"/>
                </a:ext>
              </a:extLst>
            </p:cNvPr>
            <p:cNvSpPr txBox="1"/>
            <p:nvPr/>
          </p:nvSpPr>
          <p:spPr>
            <a:xfrm>
              <a:off x="6621243" y="2659714"/>
              <a:ext cx="986227" cy="1378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해킹이론 및 실습</a:t>
              </a:r>
              <a:endParaRPr kumimoji="1" lang="en-US" altLang="ko-KR" sz="12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  <a:p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웹보안이론 및 실습</a:t>
              </a:r>
              <a:endParaRPr kumimoji="1" lang="en-US" altLang="ko-KR" sz="12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  <a:p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전자상거래보안</a:t>
              </a:r>
              <a:endParaRPr kumimoji="1" lang="en-US" altLang="ko-KR" sz="12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  <a:p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보안관제</a:t>
              </a:r>
              <a:endParaRPr kumimoji="1" lang="en-US" altLang="ko-KR" sz="12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  <a:p>
              <a:r>
                <a:rPr kumimoji="1" lang="en-US" altLang="ko-KR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IOS</a:t>
              </a:r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보안프로그래밍</a:t>
              </a:r>
              <a:endParaRPr kumimoji="1" lang="en-US" altLang="ko-KR" sz="12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  <a:p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알고리즘</a:t>
              </a:r>
              <a:endParaRPr kumimoji="1" lang="en-US" altLang="ko-KR" sz="12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  <a:p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창의응용프로젝트</a:t>
              </a:r>
              <a:endParaRPr kumimoji="1" lang="en-US" altLang="ko-KR" sz="12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  <a:p>
              <a:r>
                <a:rPr kumimoji="1" lang="en-US" altLang="ko-KR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JSP</a:t>
              </a:r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와 </a:t>
              </a:r>
              <a:r>
                <a:rPr kumimoji="1" lang="ko-KR" altLang="en-US" sz="1200" b="1" dirty="0" err="1">
                  <a:latin typeface="THEJung120" panose="02020603020101020101" pitchFamily="18" charset="-127"/>
                  <a:ea typeface="THEJung120" panose="02020603020101020101" pitchFamily="18" charset="-127"/>
                </a:rPr>
                <a:t>서블릿</a:t>
              </a:r>
              <a:endParaRPr kumimoji="1" lang="en-US" altLang="ko-KR" sz="12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  <a:p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정보보호관리체계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0A4E9BC-1C9F-4750-A209-065E1DDAEA61}"/>
                </a:ext>
              </a:extLst>
            </p:cNvPr>
            <p:cNvSpPr txBox="1"/>
            <p:nvPr/>
          </p:nvSpPr>
          <p:spPr>
            <a:xfrm>
              <a:off x="7503884" y="2658543"/>
              <a:ext cx="224978" cy="1378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A+</a:t>
              </a:r>
            </a:p>
            <a:p>
              <a:r>
                <a:rPr kumimoji="1"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A+</a:t>
              </a:r>
            </a:p>
            <a:p>
              <a:r>
                <a:rPr kumimoji="1"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B+</a:t>
              </a:r>
            </a:p>
            <a:p>
              <a:r>
                <a:rPr kumimoji="1"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B+</a:t>
              </a:r>
            </a:p>
            <a:p>
              <a:r>
                <a:rPr kumimoji="1"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A+</a:t>
              </a:r>
            </a:p>
            <a:p>
              <a:r>
                <a:rPr kumimoji="1"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A+</a:t>
              </a:r>
            </a:p>
            <a:p>
              <a:r>
                <a:rPr kumimoji="1"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A+</a:t>
              </a:r>
            </a:p>
            <a:p>
              <a:r>
                <a:rPr kumimoji="1"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A</a:t>
              </a:r>
            </a:p>
            <a:p>
              <a:r>
                <a:rPr kumimoji="1"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A+</a:t>
              </a:r>
              <a:endParaRPr kumimoji="1"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4AE9CFB0-0D49-4B5A-8B71-A8031D05E8BA}"/>
              </a:ext>
            </a:extLst>
          </p:cNvPr>
          <p:cNvGrpSpPr/>
          <p:nvPr/>
        </p:nvGrpSpPr>
        <p:grpSpPr>
          <a:xfrm>
            <a:off x="7286814" y="3015899"/>
            <a:ext cx="1990357" cy="1953893"/>
            <a:chOff x="6621243" y="2658543"/>
            <a:chExt cx="1107619" cy="153551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DFDE9E8-0E79-4AA1-A26F-A608AE05F8EA}"/>
                </a:ext>
              </a:extLst>
            </p:cNvPr>
            <p:cNvSpPr txBox="1"/>
            <p:nvPr/>
          </p:nvSpPr>
          <p:spPr>
            <a:xfrm>
              <a:off x="6621243" y="2659714"/>
              <a:ext cx="986227" cy="1523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1200" b="1" dirty="0" err="1">
                  <a:latin typeface="THEJung120" panose="02020603020101020101" pitchFamily="18" charset="-127"/>
                  <a:ea typeface="THEJung120" panose="02020603020101020101" pitchFamily="18" charset="-127"/>
                </a:rPr>
                <a:t>정보보안전문가특론</a:t>
              </a:r>
              <a:endParaRPr kumimoji="1" lang="en-US" altLang="ko-KR" sz="12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  <a:p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웹응용실무 </a:t>
              </a:r>
              <a:endParaRPr kumimoji="1" lang="en-US" altLang="ko-KR" sz="12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  <a:p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심화프로그래밍</a:t>
              </a:r>
              <a:endParaRPr kumimoji="1" lang="en-US" altLang="ko-KR" sz="12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  <a:p>
              <a:r>
                <a:rPr kumimoji="1" lang="en-US" altLang="ko-KR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DB</a:t>
              </a:r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응용실무</a:t>
              </a:r>
              <a:endParaRPr kumimoji="1" lang="en-US" altLang="ko-KR" sz="12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  <a:p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모바일응용실무</a:t>
              </a:r>
              <a:endParaRPr kumimoji="1" lang="en-US" altLang="ko-KR" sz="12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  <a:p>
              <a:r>
                <a:rPr kumimoji="1" lang="en-US" altLang="ko-KR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R&amp;D</a:t>
              </a:r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 인턴십</a:t>
              </a:r>
              <a:endParaRPr kumimoji="1" lang="en-US" altLang="ko-KR" sz="12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  <a:p>
              <a:r>
                <a:rPr kumimoji="1" lang="ko-KR" altLang="en-US" sz="1200" b="1" dirty="0" err="1">
                  <a:latin typeface="THEJung120" panose="02020603020101020101" pitchFamily="18" charset="-127"/>
                  <a:ea typeface="THEJung120" panose="02020603020101020101" pitchFamily="18" charset="-127"/>
                </a:rPr>
                <a:t>캡스톤</a:t>
              </a:r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 디자인 </a:t>
              </a:r>
              <a:r>
                <a:rPr kumimoji="1" lang="en-US" altLang="ko-KR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1</a:t>
              </a:r>
            </a:p>
            <a:p>
              <a:r>
                <a:rPr kumimoji="1" lang="ko-KR" altLang="en-US" sz="1200" b="1" dirty="0" err="1">
                  <a:latin typeface="THEJung120" panose="02020603020101020101" pitchFamily="18" charset="-127"/>
                  <a:ea typeface="THEJung120" panose="02020603020101020101" pitchFamily="18" charset="-127"/>
                </a:rPr>
                <a:t>캡스톤</a:t>
              </a:r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 디자인 </a:t>
              </a:r>
              <a:r>
                <a:rPr kumimoji="1" lang="en-US" altLang="ko-KR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2</a:t>
              </a:r>
            </a:p>
            <a:p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인공지능실무</a:t>
              </a:r>
              <a:endParaRPr kumimoji="1" lang="en-US" altLang="ko-KR" sz="12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  <a:p>
              <a:r>
                <a:rPr kumimoji="1" lang="ko-KR" altLang="en-US" sz="1200" b="1" dirty="0" err="1">
                  <a:latin typeface="THEJung120" panose="02020603020101020101" pitchFamily="18" charset="-127"/>
                  <a:ea typeface="THEJung120" panose="02020603020101020101" pitchFamily="18" charset="-127"/>
                </a:rPr>
                <a:t>빅데이터실무</a:t>
              </a:r>
              <a:endParaRPr kumimoji="1" lang="en-US" altLang="ko-KR" sz="12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55289F2-67FD-4668-B11D-325258B5A575}"/>
                </a:ext>
              </a:extLst>
            </p:cNvPr>
            <p:cNvSpPr txBox="1"/>
            <p:nvPr/>
          </p:nvSpPr>
          <p:spPr>
            <a:xfrm>
              <a:off x="7503884" y="2658543"/>
              <a:ext cx="224978" cy="1523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B</a:t>
              </a:r>
            </a:p>
            <a:p>
              <a:r>
                <a:rPr kumimoji="1"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A+</a:t>
              </a:r>
            </a:p>
            <a:p>
              <a:r>
                <a:rPr kumimoji="1"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B+</a:t>
              </a:r>
            </a:p>
            <a:p>
              <a:r>
                <a:rPr kumimoji="1"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A+</a:t>
              </a:r>
            </a:p>
            <a:p>
              <a:r>
                <a:rPr kumimoji="1"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A+</a:t>
              </a:r>
            </a:p>
            <a:p>
              <a:r>
                <a:rPr kumimoji="1"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A+</a:t>
              </a:r>
            </a:p>
            <a:p>
              <a:r>
                <a:rPr kumimoji="1"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B+</a:t>
              </a:r>
            </a:p>
            <a:p>
              <a:r>
                <a:rPr kumimoji="1"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A</a:t>
              </a:r>
            </a:p>
            <a:p>
              <a:r>
                <a:rPr kumimoji="1"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B+</a:t>
              </a:r>
            </a:p>
            <a:p>
              <a:r>
                <a:rPr kumimoji="1"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B+</a:t>
              </a:r>
              <a:endParaRPr kumimoji="1"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8484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B3F9EF3-0CD7-BF45-A62B-CCE747692D8B}"/>
              </a:ext>
            </a:extLst>
          </p:cNvPr>
          <p:cNvSpPr/>
          <p:nvPr/>
        </p:nvSpPr>
        <p:spPr>
          <a:xfrm>
            <a:off x="235570" y="259482"/>
            <a:ext cx="9670430" cy="64265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B28E24-544C-4B74-8F2C-E7F4BBBAC81A}"/>
              </a:ext>
            </a:extLst>
          </p:cNvPr>
          <p:cNvSpPr txBox="1"/>
          <p:nvPr/>
        </p:nvSpPr>
        <p:spPr>
          <a:xfrm>
            <a:off x="426551" y="1409613"/>
            <a:ext cx="3656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EC8A62"/>
                </a:solidFill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Rental</a:t>
            </a:r>
            <a:r>
              <a:rPr lang="ko-KR" altLang="en-US" sz="2400" b="1" dirty="0">
                <a:solidFill>
                  <a:srgbClr val="EC8A62"/>
                </a:solidFill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 </a:t>
            </a:r>
            <a:r>
              <a:rPr lang="en-US" altLang="ko-KR" sz="2400" b="1" dirty="0">
                <a:solidFill>
                  <a:srgbClr val="EC8A62"/>
                </a:solidFill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Combine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97742B75-B8B9-487E-B3B8-E5FF3049E6A0}"/>
              </a:ext>
            </a:extLst>
          </p:cNvPr>
          <p:cNvCxnSpPr>
            <a:cxnSpLocks/>
          </p:cNvCxnSpPr>
          <p:nvPr/>
        </p:nvCxnSpPr>
        <p:spPr>
          <a:xfrm>
            <a:off x="426551" y="1790947"/>
            <a:ext cx="9092601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5A93B81-963B-4091-95FB-B36DA186F55D}"/>
              </a:ext>
            </a:extLst>
          </p:cNvPr>
          <p:cNvSpPr txBox="1"/>
          <p:nvPr/>
        </p:nvSpPr>
        <p:spPr>
          <a:xfrm>
            <a:off x="401292" y="1810976"/>
            <a:ext cx="9092601" cy="1170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자동차 </a:t>
            </a:r>
            <a:r>
              <a:rPr lang="ko-KR" altLang="en-US" sz="1200" b="0" i="0" dirty="0" err="1">
                <a:solidFill>
                  <a:srgbClr val="666666"/>
                </a:solidFill>
                <a:effectLst/>
                <a:latin typeface="NotoSans-Regular"/>
              </a:rPr>
              <a:t>렌탈을</a:t>
            </a: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 위한 홈페이지 요구사항 분석</a:t>
            </a:r>
            <a:r>
              <a:rPr lang="en-US" altLang="ko-KR" sz="1200" b="0" i="0" dirty="0">
                <a:solidFill>
                  <a:srgbClr val="666666"/>
                </a:solidFill>
                <a:effectLst/>
                <a:latin typeface="NotoSans-Regular"/>
              </a:rPr>
              <a:t>, </a:t>
            </a: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설계</a:t>
            </a:r>
            <a:r>
              <a:rPr lang="en-US" altLang="ko-KR" sz="1200" b="0" i="0" dirty="0">
                <a:solidFill>
                  <a:srgbClr val="666666"/>
                </a:solidFill>
                <a:effectLst/>
                <a:latin typeface="NotoSans-Regular"/>
              </a:rPr>
              <a:t>, </a:t>
            </a: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구현</a:t>
            </a:r>
            <a:br>
              <a:rPr lang="ko-KR" altLang="en-US" sz="1200" dirty="0"/>
            </a:b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요구사항 분석 단계에서 </a:t>
            </a:r>
            <a:r>
              <a:rPr lang="ko-KR" altLang="en-US" sz="1200" b="0" i="0" dirty="0" err="1">
                <a:solidFill>
                  <a:srgbClr val="666666"/>
                </a:solidFill>
                <a:effectLst/>
                <a:latin typeface="NotoSans-Regular"/>
              </a:rPr>
              <a:t>호텔스컴바인을</a:t>
            </a: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 벤치마킹하여 여러 </a:t>
            </a:r>
            <a:r>
              <a:rPr lang="ko-KR" altLang="en-US" sz="1200" b="0" i="0" dirty="0" err="1">
                <a:solidFill>
                  <a:srgbClr val="666666"/>
                </a:solidFill>
                <a:effectLst/>
                <a:latin typeface="NotoSans-Regular"/>
              </a:rPr>
              <a:t>렌탈</a:t>
            </a: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 홈페이지의 상품을 비교하는 홈페이지 분석</a:t>
            </a:r>
            <a:br>
              <a:rPr lang="ko-KR" altLang="en-US" sz="1200" dirty="0"/>
            </a:b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설계 단계에서 </a:t>
            </a:r>
            <a:r>
              <a:rPr lang="en-US" altLang="ko-KR" sz="1200" b="0" i="0" dirty="0">
                <a:solidFill>
                  <a:srgbClr val="666666"/>
                </a:solidFill>
                <a:effectLst/>
                <a:latin typeface="NotoSans-Regular"/>
              </a:rPr>
              <a:t>Use Case Diagram, </a:t>
            </a:r>
            <a:r>
              <a:rPr lang="en-US" altLang="ko-KR" sz="1200" b="0" i="0" dirty="0" err="1">
                <a:solidFill>
                  <a:srgbClr val="666666"/>
                </a:solidFill>
                <a:effectLst/>
                <a:latin typeface="NotoSans-Regular"/>
              </a:rPr>
              <a:t>Usecase</a:t>
            </a:r>
            <a:r>
              <a:rPr lang="en-US" altLang="ko-KR" sz="1200" b="0" i="0" dirty="0">
                <a:solidFill>
                  <a:srgbClr val="666666"/>
                </a:solidFill>
                <a:effectLst/>
                <a:latin typeface="NotoSans-Regular"/>
              </a:rPr>
              <a:t> Description, E-R Diagram, Sequence Diagram </a:t>
            </a: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등을 활용하여 구체적인 설계</a:t>
            </a:r>
            <a:br>
              <a:rPr lang="ko-KR" altLang="en-US" sz="1200" dirty="0"/>
            </a:b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구현 단계에서 설계를 기반으로 </a:t>
            </a:r>
            <a:r>
              <a:rPr lang="en-US" altLang="ko-KR" sz="1200" b="0" i="0" dirty="0">
                <a:solidFill>
                  <a:srgbClr val="666666"/>
                </a:solidFill>
                <a:effectLst/>
                <a:latin typeface="NotoSans-Regular"/>
              </a:rPr>
              <a:t>DB, Programming </a:t>
            </a: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진행</a:t>
            </a:r>
            <a:endParaRPr lang="en-US" altLang="ko-KR" sz="500" dirty="0">
              <a:latin typeface="Arita-dotum(TTF) Medium" panose="02020603020101020101" pitchFamily="18" charset="-127"/>
              <a:ea typeface="Arita-dotum(TTF) Medium" panose="02020603020101020101" pitchFamily="18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4180F67F-0724-4D66-A68F-0E73F2425794}"/>
              </a:ext>
            </a:extLst>
          </p:cNvPr>
          <p:cNvGrpSpPr/>
          <p:nvPr/>
        </p:nvGrpSpPr>
        <p:grpSpPr>
          <a:xfrm>
            <a:off x="6742536" y="3048572"/>
            <a:ext cx="1508979" cy="585939"/>
            <a:chOff x="6657264" y="2669246"/>
            <a:chExt cx="1508979" cy="585939"/>
          </a:xfrm>
        </p:grpSpPr>
        <p:sp>
          <p:nvSpPr>
            <p:cNvPr id="66" name="삼각형 45">
              <a:extLst>
                <a:ext uri="{FF2B5EF4-FFF2-40B4-BE49-F238E27FC236}">
                  <a16:creationId xmlns:a16="http://schemas.microsoft.com/office/drawing/2014/main" id="{81BA3A99-2E6D-4C45-9040-29385300940B}"/>
                </a:ext>
              </a:extLst>
            </p:cNvPr>
            <p:cNvSpPr/>
            <p:nvPr/>
          </p:nvSpPr>
          <p:spPr>
            <a:xfrm rot="5400000">
              <a:off x="6652273" y="2730796"/>
              <a:ext cx="133104" cy="123122"/>
            </a:xfrm>
            <a:prstGeom prst="triangle">
              <a:avLst/>
            </a:prstGeom>
            <a:solidFill>
              <a:srgbClr val="F4BA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F7742DA-91A1-4A0F-BD46-EF234665869B}"/>
                </a:ext>
              </a:extLst>
            </p:cNvPr>
            <p:cNvSpPr txBox="1"/>
            <p:nvPr/>
          </p:nvSpPr>
          <p:spPr>
            <a:xfrm>
              <a:off x="6812234" y="2669246"/>
              <a:ext cx="13540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진행 기간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D945192-38BF-4D10-9B7B-47EF81C22699}"/>
                </a:ext>
              </a:extLst>
            </p:cNvPr>
            <p:cNvSpPr txBox="1"/>
            <p:nvPr/>
          </p:nvSpPr>
          <p:spPr>
            <a:xfrm>
              <a:off x="6657264" y="3001269"/>
              <a:ext cx="131799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2018.08 ~ 2018.11</a:t>
              </a:r>
              <a:endParaRPr kumimoji="1" lang="ko-KR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8354CD0-4592-469D-AC1E-60C691B7767C}"/>
              </a:ext>
            </a:extLst>
          </p:cNvPr>
          <p:cNvGrpSpPr/>
          <p:nvPr/>
        </p:nvGrpSpPr>
        <p:grpSpPr>
          <a:xfrm>
            <a:off x="6742536" y="3743989"/>
            <a:ext cx="1508979" cy="1035031"/>
            <a:chOff x="6657264" y="3368786"/>
            <a:chExt cx="1508979" cy="1035031"/>
          </a:xfrm>
        </p:grpSpPr>
        <p:sp>
          <p:nvSpPr>
            <p:cNvPr id="146" name="삼각형 45">
              <a:extLst>
                <a:ext uri="{FF2B5EF4-FFF2-40B4-BE49-F238E27FC236}">
                  <a16:creationId xmlns:a16="http://schemas.microsoft.com/office/drawing/2014/main" id="{D4316302-52B8-4D2D-8955-7220CC5E1169}"/>
                </a:ext>
              </a:extLst>
            </p:cNvPr>
            <p:cNvSpPr/>
            <p:nvPr/>
          </p:nvSpPr>
          <p:spPr>
            <a:xfrm rot="5400000">
              <a:off x="6652273" y="3430336"/>
              <a:ext cx="133104" cy="123122"/>
            </a:xfrm>
            <a:prstGeom prst="triangle">
              <a:avLst/>
            </a:prstGeom>
            <a:solidFill>
              <a:srgbClr val="F4BA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CB579934-064B-4677-90FE-D6A21BBA8A5C}"/>
                </a:ext>
              </a:extLst>
            </p:cNvPr>
            <p:cNvSpPr txBox="1"/>
            <p:nvPr/>
          </p:nvSpPr>
          <p:spPr>
            <a:xfrm>
              <a:off x="6812234" y="3368786"/>
              <a:ext cx="135400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1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SKILLS / IDE</a:t>
              </a:r>
              <a:endParaRPr kumimoji="1" lang="ko-KR" altLang="en-US" sz="11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4BF8215D-85B0-40E7-9A77-5F269FAE6158}"/>
                </a:ext>
              </a:extLst>
            </p:cNvPr>
            <p:cNvSpPr txBox="1"/>
            <p:nvPr/>
          </p:nvSpPr>
          <p:spPr>
            <a:xfrm>
              <a:off x="6657264" y="3688236"/>
              <a:ext cx="1487908" cy="7155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Java</a:t>
              </a:r>
            </a:p>
            <a:p>
              <a:r>
                <a:rPr kumimoji="1" lang="en-US" altLang="ko-KR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Spring</a:t>
              </a:r>
            </a:p>
            <a:p>
              <a:r>
                <a:rPr kumimoji="1" lang="en-US" altLang="ko-KR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Oracle </a:t>
              </a:r>
              <a:r>
                <a:rPr kumimoji="1" lang="en-US" altLang="ko-KR" sz="105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SQLDeveloper</a:t>
              </a:r>
              <a:endParaRPr kumimoji="1"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  <a:p>
              <a:endParaRPr kumimoji="1"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7F3D77D-B63E-4FDA-B608-4F178AFBACC9}"/>
              </a:ext>
            </a:extLst>
          </p:cNvPr>
          <p:cNvGrpSpPr/>
          <p:nvPr/>
        </p:nvGrpSpPr>
        <p:grpSpPr>
          <a:xfrm>
            <a:off x="6742536" y="5196839"/>
            <a:ext cx="1508979" cy="253916"/>
            <a:chOff x="6654694" y="4740005"/>
            <a:chExt cx="1508979" cy="253916"/>
          </a:xfrm>
        </p:grpSpPr>
        <p:sp>
          <p:nvSpPr>
            <p:cNvPr id="149" name="삼각형 45">
              <a:extLst>
                <a:ext uri="{FF2B5EF4-FFF2-40B4-BE49-F238E27FC236}">
                  <a16:creationId xmlns:a16="http://schemas.microsoft.com/office/drawing/2014/main" id="{079A80A8-5369-461E-B6E4-135C69EE1526}"/>
                </a:ext>
              </a:extLst>
            </p:cNvPr>
            <p:cNvSpPr/>
            <p:nvPr/>
          </p:nvSpPr>
          <p:spPr>
            <a:xfrm rot="5400000">
              <a:off x="6649703" y="4801555"/>
              <a:ext cx="133104" cy="123122"/>
            </a:xfrm>
            <a:prstGeom prst="triangle">
              <a:avLst/>
            </a:prstGeom>
            <a:solidFill>
              <a:srgbClr val="F4BA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C68DE23-AD92-4A6A-9490-222E27A3994C}"/>
                </a:ext>
              </a:extLst>
            </p:cNvPr>
            <p:cNvSpPr txBox="1"/>
            <p:nvPr/>
          </p:nvSpPr>
          <p:spPr>
            <a:xfrm>
              <a:off x="6809664" y="4740005"/>
              <a:ext cx="13540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050" b="1" dirty="0" err="1">
                  <a:latin typeface="THEJung120" panose="02020603020101020101" pitchFamily="18" charset="-127"/>
                  <a:ea typeface="THEJung120" panose="02020603020101020101" pitchFamily="18" charset="-127"/>
                </a:rPr>
                <a:t>Github</a:t>
              </a:r>
              <a:r>
                <a:rPr kumimoji="1" lang="en-US" altLang="ko-KR" sz="105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 URL</a:t>
              </a:r>
              <a:endParaRPr kumimoji="1" lang="ko-KR" altLang="en-US" sz="105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23DFFFF-8D2D-4283-972F-D56BB7E15D45}"/>
              </a:ext>
            </a:extLst>
          </p:cNvPr>
          <p:cNvGrpSpPr/>
          <p:nvPr/>
        </p:nvGrpSpPr>
        <p:grpSpPr>
          <a:xfrm>
            <a:off x="351449" y="452819"/>
            <a:ext cx="3455355" cy="642375"/>
            <a:chOff x="351449" y="452819"/>
            <a:chExt cx="3455355" cy="642375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8B0DFB2-A94A-4FC2-B63B-4E888CF56106}"/>
                </a:ext>
              </a:extLst>
            </p:cNvPr>
            <p:cNvSpPr txBox="1"/>
            <p:nvPr/>
          </p:nvSpPr>
          <p:spPr>
            <a:xfrm>
              <a:off x="463182" y="864362"/>
              <a:ext cx="1282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solidFill>
                    <a:schemeClr val="accent3">
                      <a:lumMod val="75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인적사항</a:t>
              </a:r>
              <a:endParaRPr lang="ko-KR" altLang="en-US" sz="700" dirty="0">
                <a:solidFill>
                  <a:schemeClr val="accent3">
                    <a:lumMod val="75000"/>
                  </a:schemeClr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156B9E7-7D28-4192-9C5B-8D9FD35A790C}"/>
                </a:ext>
              </a:extLst>
            </p:cNvPr>
            <p:cNvSpPr txBox="1"/>
            <p:nvPr/>
          </p:nvSpPr>
          <p:spPr>
            <a:xfrm>
              <a:off x="1164070" y="864362"/>
              <a:ext cx="83016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solidFill>
                    <a:schemeClr val="accent3">
                      <a:lumMod val="75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이수 과목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367887D-C509-407A-8051-E8DFFE71EB53}"/>
                </a:ext>
              </a:extLst>
            </p:cNvPr>
            <p:cNvSpPr txBox="1"/>
            <p:nvPr/>
          </p:nvSpPr>
          <p:spPr>
            <a:xfrm>
              <a:off x="1881749" y="846723"/>
              <a:ext cx="12822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PROJECTS</a:t>
              </a:r>
              <a:endParaRPr lang="ko-KR" altLang="en-US" sz="900" b="1" dirty="0"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C34CD92-D8EB-4DFD-9846-CB3C6A607BC9}"/>
                </a:ext>
              </a:extLst>
            </p:cNvPr>
            <p:cNvSpPr txBox="1"/>
            <p:nvPr/>
          </p:nvSpPr>
          <p:spPr>
            <a:xfrm>
              <a:off x="2612739" y="864362"/>
              <a:ext cx="119406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수상 </a:t>
              </a:r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/</a:t>
              </a:r>
              <a:r>
                <a: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자격증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E726CB8-2F4E-46E7-9682-5727ED496137}"/>
                </a:ext>
              </a:extLst>
            </p:cNvPr>
            <p:cNvSpPr txBox="1"/>
            <p:nvPr/>
          </p:nvSpPr>
          <p:spPr>
            <a:xfrm>
              <a:off x="351449" y="452819"/>
              <a:ext cx="28367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solidFill>
                    <a:srgbClr val="EC8A62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  </a:t>
              </a:r>
              <a:r>
                <a:rPr lang="en-US" altLang="ko-KR" b="1" dirty="0">
                  <a:solidFill>
                    <a:srgbClr val="EC8A62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[PORTFOLIO] </a:t>
              </a:r>
              <a:r>
                <a:rPr lang="ko-KR" altLang="en-US" b="1" dirty="0">
                  <a:solidFill>
                    <a:srgbClr val="EC8A62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이동훈</a:t>
              </a:r>
              <a:endParaRPr lang="ko-KR" altLang="en-US" sz="1000" b="1" dirty="0">
                <a:solidFill>
                  <a:srgbClr val="EC8A62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BCCEDB1-278C-4631-AA78-56BD7AE89EE4}"/>
              </a:ext>
            </a:extLst>
          </p:cNvPr>
          <p:cNvSpPr/>
          <p:nvPr/>
        </p:nvSpPr>
        <p:spPr>
          <a:xfrm>
            <a:off x="494623" y="3048572"/>
            <a:ext cx="5967137" cy="333753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355DB73-C999-4A7D-B13A-01FA28F1F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403" y="3374263"/>
            <a:ext cx="4981575" cy="261937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032D1A7D-F690-4DBF-A8D3-7B53DBE6CF80}"/>
              </a:ext>
            </a:extLst>
          </p:cNvPr>
          <p:cNvSpPr txBox="1"/>
          <p:nvPr/>
        </p:nvSpPr>
        <p:spPr>
          <a:xfrm>
            <a:off x="6804097" y="5520137"/>
            <a:ext cx="271505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https://github.com/programmerDH-github/Portfolio</a:t>
            </a:r>
          </a:p>
        </p:txBody>
      </p:sp>
    </p:spTree>
    <p:extLst>
      <p:ext uri="{BB962C8B-B14F-4D97-AF65-F5344CB8AC3E}">
        <p14:creationId xmlns:p14="http://schemas.microsoft.com/office/powerpoint/2010/main" val="921188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B3F9EF3-0CD7-BF45-A62B-CCE747692D8B}"/>
              </a:ext>
            </a:extLst>
          </p:cNvPr>
          <p:cNvSpPr/>
          <p:nvPr/>
        </p:nvSpPr>
        <p:spPr>
          <a:xfrm>
            <a:off x="235570" y="259482"/>
            <a:ext cx="9670430" cy="64265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B28E24-544C-4B74-8F2C-E7F4BBBAC81A}"/>
              </a:ext>
            </a:extLst>
          </p:cNvPr>
          <p:cNvSpPr txBox="1"/>
          <p:nvPr/>
        </p:nvSpPr>
        <p:spPr>
          <a:xfrm>
            <a:off x="426551" y="1409613"/>
            <a:ext cx="9052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>
                <a:solidFill>
                  <a:srgbClr val="EC8A62"/>
                </a:solidFill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Consert</a:t>
            </a:r>
            <a:r>
              <a:rPr lang="en-US" altLang="ko-KR" sz="2400" b="1" dirty="0">
                <a:solidFill>
                  <a:srgbClr val="EC8A62"/>
                </a:solidFill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 Get Tickets Application Using </a:t>
            </a:r>
            <a:r>
              <a:rPr lang="en-US" altLang="ko-KR" sz="2400" b="1" dirty="0" err="1">
                <a:solidFill>
                  <a:srgbClr val="EC8A62"/>
                </a:solidFill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SmartPhone</a:t>
            </a:r>
            <a:endParaRPr lang="en-US" altLang="ko-KR" sz="2400" b="1" dirty="0">
              <a:solidFill>
                <a:srgbClr val="EC8A62"/>
              </a:solidFill>
              <a:latin typeface="Arita-dotum(TTF) Medium" panose="02020603020101020101" pitchFamily="18" charset="-127"/>
              <a:ea typeface="Arita-dotum(TTF) Medium" panose="02020603020101020101" pitchFamily="18" charset="-12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97742B75-B8B9-487E-B3B8-E5FF3049E6A0}"/>
              </a:ext>
            </a:extLst>
          </p:cNvPr>
          <p:cNvCxnSpPr>
            <a:cxnSpLocks/>
          </p:cNvCxnSpPr>
          <p:nvPr/>
        </p:nvCxnSpPr>
        <p:spPr>
          <a:xfrm>
            <a:off x="426551" y="1790947"/>
            <a:ext cx="9092601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5A93B81-963B-4091-95FB-B36DA186F55D}"/>
              </a:ext>
            </a:extLst>
          </p:cNvPr>
          <p:cNvSpPr txBox="1"/>
          <p:nvPr/>
        </p:nvSpPr>
        <p:spPr>
          <a:xfrm>
            <a:off x="401292" y="1810976"/>
            <a:ext cx="9092601" cy="893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0" i="0" dirty="0">
                <a:solidFill>
                  <a:srgbClr val="666666"/>
                </a:solidFill>
                <a:effectLst/>
                <a:latin typeface="NotoSans-Regular"/>
              </a:rPr>
              <a:t>Android Studio</a:t>
            </a: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를 이용한 콘서트 </a:t>
            </a:r>
            <a:r>
              <a:rPr lang="ko-KR" altLang="en-US" sz="1200" b="0" i="0" dirty="0" err="1">
                <a:solidFill>
                  <a:srgbClr val="666666"/>
                </a:solidFill>
                <a:effectLst/>
                <a:latin typeface="NotoSans-Regular"/>
              </a:rPr>
              <a:t>티켓팅</a:t>
            </a: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 애플리케이션</a:t>
            </a:r>
            <a:br>
              <a:rPr lang="ko-KR" altLang="en-US" sz="1200" dirty="0"/>
            </a:b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로그인 이후 사용자는 </a:t>
            </a:r>
            <a:r>
              <a:rPr lang="en-US" altLang="ko-KR" sz="1200" b="0" i="0" dirty="0">
                <a:solidFill>
                  <a:srgbClr val="666666"/>
                </a:solidFill>
                <a:effectLst/>
                <a:latin typeface="NotoSans-Regular"/>
              </a:rPr>
              <a:t>Home </a:t>
            </a: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화면에 콘서트 리스트가 보이고 리스트에서 선택을 하여 예매를 진행한다</a:t>
            </a:r>
            <a:r>
              <a:rPr lang="en-US" altLang="ko-KR" sz="1200" b="0" i="0" dirty="0">
                <a:solidFill>
                  <a:srgbClr val="666666"/>
                </a:solidFill>
                <a:effectLst/>
                <a:latin typeface="NotoSans-Regular"/>
              </a:rPr>
              <a:t>. </a:t>
            </a: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예매현황을 확인하여 취소와 수정이 가능하고 예매 정보는 </a:t>
            </a:r>
            <a:r>
              <a:rPr lang="en-US" altLang="ko-KR" sz="1200" b="0" i="0" dirty="0">
                <a:solidFill>
                  <a:srgbClr val="666666"/>
                </a:solidFill>
                <a:effectLst/>
                <a:latin typeface="NotoSans-Regular"/>
              </a:rPr>
              <a:t>DB</a:t>
            </a: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에 저장</a:t>
            </a:r>
            <a:endParaRPr lang="en-US" altLang="ko-KR" sz="500" dirty="0">
              <a:latin typeface="Arita-dotum(TTF) Medium" panose="02020603020101020101" pitchFamily="18" charset="-127"/>
              <a:ea typeface="Arita-dotum(TTF) Medium" panose="02020603020101020101" pitchFamily="18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4180F67F-0724-4D66-A68F-0E73F2425794}"/>
              </a:ext>
            </a:extLst>
          </p:cNvPr>
          <p:cNvGrpSpPr/>
          <p:nvPr/>
        </p:nvGrpSpPr>
        <p:grpSpPr>
          <a:xfrm>
            <a:off x="6742536" y="3048572"/>
            <a:ext cx="1508979" cy="585939"/>
            <a:chOff x="6657264" y="2669246"/>
            <a:chExt cx="1508979" cy="585939"/>
          </a:xfrm>
        </p:grpSpPr>
        <p:sp>
          <p:nvSpPr>
            <p:cNvPr id="66" name="삼각형 45">
              <a:extLst>
                <a:ext uri="{FF2B5EF4-FFF2-40B4-BE49-F238E27FC236}">
                  <a16:creationId xmlns:a16="http://schemas.microsoft.com/office/drawing/2014/main" id="{81BA3A99-2E6D-4C45-9040-29385300940B}"/>
                </a:ext>
              </a:extLst>
            </p:cNvPr>
            <p:cNvSpPr/>
            <p:nvPr/>
          </p:nvSpPr>
          <p:spPr>
            <a:xfrm rot="5400000">
              <a:off x="6652273" y="2730796"/>
              <a:ext cx="133104" cy="123122"/>
            </a:xfrm>
            <a:prstGeom prst="triangle">
              <a:avLst/>
            </a:prstGeom>
            <a:solidFill>
              <a:srgbClr val="F4BA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F7742DA-91A1-4A0F-BD46-EF234665869B}"/>
                </a:ext>
              </a:extLst>
            </p:cNvPr>
            <p:cNvSpPr txBox="1"/>
            <p:nvPr/>
          </p:nvSpPr>
          <p:spPr>
            <a:xfrm>
              <a:off x="6812234" y="2669246"/>
              <a:ext cx="13540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진행 기간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D945192-38BF-4D10-9B7B-47EF81C22699}"/>
                </a:ext>
              </a:extLst>
            </p:cNvPr>
            <p:cNvSpPr txBox="1"/>
            <p:nvPr/>
          </p:nvSpPr>
          <p:spPr>
            <a:xfrm>
              <a:off x="6657264" y="3001269"/>
              <a:ext cx="131799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2018.03 ~ 2018.06</a:t>
              </a:r>
              <a:endParaRPr kumimoji="1" lang="ko-KR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8354CD0-4592-469D-AC1E-60C691B7767C}"/>
              </a:ext>
            </a:extLst>
          </p:cNvPr>
          <p:cNvGrpSpPr/>
          <p:nvPr/>
        </p:nvGrpSpPr>
        <p:grpSpPr>
          <a:xfrm>
            <a:off x="6742536" y="3743989"/>
            <a:ext cx="1508979" cy="896531"/>
            <a:chOff x="6657264" y="3368786"/>
            <a:chExt cx="1508979" cy="896531"/>
          </a:xfrm>
        </p:grpSpPr>
        <p:sp>
          <p:nvSpPr>
            <p:cNvPr id="146" name="삼각형 45">
              <a:extLst>
                <a:ext uri="{FF2B5EF4-FFF2-40B4-BE49-F238E27FC236}">
                  <a16:creationId xmlns:a16="http://schemas.microsoft.com/office/drawing/2014/main" id="{D4316302-52B8-4D2D-8955-7220CC5E1169}"/>
                </a:ext>
              </a:extLst>
            </p:cNvPr>
            <p:cNvSpPr/>
            <p:nvPr/>
          </p:nvSpPr>
          <p:spPr>
            <a:xfrm rot="5400000">
              <a:off x="6652273" y="3430336"/>
              <a:ext cx="133104" cy="123122"/>
            </a:xfrm>
            <a:prstGeom prst="triangle">
              <a:avLst/>
            </a:prstGeom>
            <a:solidFill>
              <a:srgbClr val="F4BA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CB579934-064B-4677-90FE-D6A21BBA8A5C}"/>
                </a:ext>
              </a:extLst>
            </p:cNvPr>
            <p:cNvSpPr txBox="1"/>
            <p:nvPr/>
          </p:nvSpPr>
          <p:spPr>
            <a:xfrm>
              <a:off x="6812234" y="3368786"/>
              <a:ext cx="135400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1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SKILLS / IDE</a:t>
              </a:r>
              <a:endParaRPr kumimoji="1" lang="ko-KR" altLang="en-US" sz="11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4BF8215D-85B0-40E7-9A77-5F269FAE6158}"/>
                </a:ext>
              </a:extLst>
            </p:cNvPr>
            <p:cNvSpPr txBox="1"/>
            <p:nvPr/>
          </p:nvSpPr>
          <p:spPr>
            <a:xfrm>
              <a:off x="6657264" y="3688236"/>
              <a:ext cx="1119217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Java</a:t>
              </a:r>
            </a:p>
            <a:p>
              <a:r>
                <a:rPr kumimoji="1" lang="en-US" altLang="ko-KR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Android Studio</a:t>
              </a:r>
            </a:p>
            <a:p>
              <a:r>
                <a:rPr kumimoji="1" lang="en-US" altLang="ko-KR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SQLite</a:t>
              </a:r>
              <a:endParaRPr kumimoji="1"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7F3D77D-B63E-4FDA-B608-4F178AFBACC9}"/>
              </a:ext>
            </a:extLst>
          </p:cNvPr>
          <p:cNvGrpSpPr/>
          <p:nvPr/>
        </p:nvGrpSpPr>
        <p:grpSpPr>
          <a:xfrm>
            <a:off x="6742536" y="5196839"/>
            <a:ext cx="1508979" cy="253916"/>
            <a:chOff x="6654694" y="4740005"/>
            <a:chExt cx="1508979" cy="253916"/>
          </a:xfrm>
        </p:grpSpPr>
        <p:sp>
          <p:nvSpPr>
            <p:cNvPr id="149" name="삼각형 45">
              <a:extLst>
                <a:ext uri="{FF2B5EF4-FFF2-40B4-BE49-F238E27FC236}">
                  <a16:creationId xmlns:a16="http://schemas.microsoft.com/office/drawing/2014/main" id="{079A80A8-5369-461E-B6E4-135C69EE1526}"/>
                </a:ext>
              </a:extLst>
            </p:cNvPr>
            <p:cNvSpPr/>
            <p:nvPr/>
          </p:nvSpPr>
          <p:spPr>
            <a:xfrm rot="5400000">
              <a:off x="6649703" y="4801555"/>
              <a:ext cx="133104" cy="123122"/>
            </a:xfrm>
            <a:prstGeom prst="triangle">
              <a:avLst/>
            </a:prstGeom>
            <a:solidFill>
              <a:srgbClr val="F4BA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C68DE23-AD92-4A6A-9490-222E27A3994C}"/>
                </a:ext>
              </a:extLst>
            </p:cNvPr>
            <p:cNvSpPr txBox="1"/>
            <p:nvPr/>
          </p:nvSpPr>
          <p:spPr>
            <a:xfrm>
              <a:off x="6809664" y="4740005"/>
              <a:ext cx="13540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050" b="1" dirty="0" err="1">
                  <a:latin typeface="THEJung120" panose="02020603020101020101" pitchFamily="18" charset="-127"/>
                  <a:ea typeface="THEJung120" panose="02020603020101020101" pitchFamily="18" charset="-127"/>
                </a:rPr>
                <a:t>Github</a:t>
              </a:r>
              <a:r>
                <a:rPr kumimoji="1" lang="en-US" altLang="ko-KR" sz="105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 URL</a:t>
              </a:r>
              <a:endParaRPr kumimoji="1" lang="ko-KR" altLang="en-US" sz="105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23DFFFF-8D2D-4283-972F-D56BB7E15D45}"/>
              </a:ext>
            </a:extLst>
          </p:cNvPr>
          <p:cNvGrpSpPr/>
          <p:nvPr/>
        </p:nvGrpSpPr>
        <p:grpSpPr>
          <a:xfrm>
            <a:off x="351449" y="452819"/>
            <a:ext cx="3455355" cy="642375"/>
            <a:chOff x="351449" y="452819"/>
            <a:chExt cx="3455355" cy="642375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8B0DFB2-A94A-4FC2-B63B-4E888CF56106}"/>
                </a:ext>
              </a:extLst>
            </p:cNvPr>
            <p:cNvSpPr txBox="1"/>
            <p:nvPr/>
          </p:nvSpPr>
          <p:spPr>
            <a:xfrm>
              <a:off x="463182" y="864362"/>
              <a:ext cx="1282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solidFill>
                    <a:schemeClr val="accent3">
                      <a:lumMod val="75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인적사항</a:t>
              </a:r>
              <a:endParaRPr lang="ko-KR" altLang="en-US" sz="700" dirty="0">
                <a:solidFill>
                  <a:schemeClr val="accent3">
                    <a:lumMod val="75000"/>
                  </a:schemeClr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156B9E7-7D28-4192-9C5B-8D9FD35A790C}"/>
                </a:ext>
              </a:extLst>
            </p:cNvPr>
            <p:cNvSpPr txBox="1"/>
            <p:nvPr/>
          </p:nvSpPr>
          <p:spPr>
            <a:xfrm>
              <a:off x="1164070" y="864362"/>
              <a:ext cx="83016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solidFill>
                    <a:schemeClr val="accent3">
                      <a:lumMod val="75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이수 과목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367887D-C509-407A-8051-E8DFFE71EB53}"/>
                </a:ext>
              </a:extLst>
            </p:cNvPr>
            <p:cNvSpPr txBox="1"/>
            <p:nvPr/>
          </p:nvSpPr>
          <p:spPr>
            <a:xfrm>
              <a:off x="1881749" y="846723"/>
              <a:ext cx="12822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PROJECTS</a:t>
              </a:r>
              <a:endParaRPr lang="ko-KR" altLang="en-US" sz="900" b="1" dirty="0"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C34CD92-D8EB-4DFD-9846-CB3C6A607BC9}"/>
                </a:ext>
              </a:extLst>
            </p:cNvPr>
            <p:cNvSpPr txBox="1"/>
            <p:nvPr/>
          </p:nvSpPr>
          <p:spPr>
            <a:xfrm>
              <a:off x="2612739" y="864362"/>
              <a:ext cx="119406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수상 </a:t>
              </a:r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/</a:t>
              </a:r>
              <a:r>
                <a: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자격증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E726CB8-2F4E-46E7-9682-5727ED496137}"/>
                </a:ext>
              </a:extLst>
            </p:cNvPr>
            <p:cNvSpPr txBox="1"/>
            <p:nvPr/>
          </p:nvSpPr>
          <p:spPr>
            <a:xfrm>
              <a:off x="351449" y="452819"/>
              <a:ext cx="28367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solidFill>
                    <a:srgbClr val="EC8A62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  </a:t>
              </a:r>
              <a:r>
                <a:rPr lang="en-US" altLang="ko-KR" b="1" dirty="0">
                  <a:solidFill>
                    <a:srgbClr val="EC8A62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[PORTFOLIO] </a:t>
              </a:r>
              <a:r>
                <a:rPr lang="ko-KR" altLang="en-US" b="1" dirty="0">
                  <a:solidFill>
                    <a:srgbClr val="EC8A62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이동훈</a:t>
              </a:r>
              <a:endParaRPr lang="ko-KR" altLang="en-US" sz="1000" b="1" dirty="0">
                <a:solidFill>
                  <a:srgbClr val="EC8A62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BCCEDB1-278C-4631-AA78-56BD7AE89EE4}"/>
              </a:ext>
            </a:extLst>
          </p:cNvPr>
          <p:cNvSpPr/>
          <p:nvPr/>
        </p:nvSpPr>
        <p:spPr>
          <a:xfrm>
            <a:off x="494623" y="3048572"/>
            <a:ext cx="5967137" cy="333753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FD3D273-E7C3-49A8-8B07-F1A0645CA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848" y="3039034"/>
            <a:ext cx="3892685" cy="334707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9BE633B-6DB9-4B76-88CD-B67C9070CEBA}"/>
              </a:ext>
            </a:extLst>
          </p:cNvPr>
          <p:cNvSpPr txBox="1"/>
          <p:nvPr/>
        </p:nvSpPr>
        <p:spPr>
          <a:xfrm>
            <a:off x="6804097" y="5518028"/>
            <a:ext cx="271505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https://github.com/programmerDH-github/Portfolio</a:t>
            </a:r>
          </a:p>
        </p:txBody>
      </p:sp>
    </p:spTree>
    <p:extLst>
      <p:ext uri="{BB962C8B-B14F-4D97-AF65-F5344CB8AC3E}">
        <p14:creationId xmlns:p14="http://schemas.microsoft.com/office/powerpoint/2010/main" val="1948095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B3F9EF3-0CD7-BF45-A62B-CCE747692D8B}"/>
              </a:ext>
            </a:extLst>
          </p:cNvPr>
          <p:cNvSpPr/>
          <p:nvPr/>
        </p:nvSpPr>
        <p:spPr>
          <a:xfrm>
            <a:off x="235570" y="259482"/>
            <a:ext cx="9670430" cy="64265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B28E24-544C-4B74-8F2C-E7F4BBBAC81A}"/>
              </a:ext>
            </a:extLst>
          </p:cNvPr>
          <p:cNvSpPr txBox="1"/>
          <p:nvPr/>
        </p:nvSpPr>
        <p:spPr>
          <a:xfrm>
            <a:off x="426551" y="1409613"/>
            <a:ext cx="905289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b="1" dirty="0">
                <a:solidFill>
                  <a:srgbClr val="EC8A62"/>
                </a:solidFill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SNS(Face Book)</a:t>
            </a:r>
            <a:r>
              <a:rPr lang="ko-KR" altLang="en-US" sz="2300" b="1" dirty="0">
                <a:solidFill>
                  <a:srgbClr val="EC8A62"/>
                </a:solidFill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을 이용한 </a:t>
            </a:r>
            <a:r>
              <a:rPr lang="en-US" altLang="ko-KR" sz="2300" b="1" dirty="0">
                <a:solidFill>
                  <a:srgbClr val="EC8A62"/>
                </a:solidFill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Phishing</a:t>
            </a:r>
            <a:r>
              <a:rPr lang="ko-KR" altLang="en-US" sz="2300" b="1" dirty="0">
                <a:solidFill>
                  <a:srgbClr val="EC8A62"/>
                </a:solidFill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과 </a:t>
            </a:r>
            <a:r>
              <a:rPr lang="en-US" altLang="ko-KR" sz="2300" b="1" dirty="0">
                <a:solidFill>
                  <a:srgbClr val="EC8A62"/>
                </a:solidFill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Smishing </a:t>
            </a:r>
            <a:r>
              <a:rPr lang="ko-KR" altLang="en-US" sz="2300" b="1" dirty="0">
                <a:solidFill>
                  <a:srgbClr val="EC8A62"/>
                </a:solidFill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및 피해 시나리오</a:t>
            </a:r>
            <a:endParaRPr lang="en-US" altLang="ko-KR" sz="2300" b="1" dirty="0">
              <a:solidFill>
                <a:srgbClr val="EC8A62"/>
              </a:solidFill>
              <a:latin typeface="Arita-dotum(TTF) Medium" panose="02020603020101020101" pitchFamily="18" charset="-127"/>
              <a:ea typeface="Arita-dotum(TTF) Medium" panose="02020603020101020101" pitchFamily="18" charset="-12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97742B75-B8B9-487E-B3B8-E5FF3049E6A0}"/>
              </a:ext>
            </a:extLst>
          </p:cNvPr>
          <p:cNvCxnSpPr>
            <a:cxnSpLocks/>
          </p:cNvCxnSpPr>
          <p:nvPr/>
        </p:nvCxnSpPr>
        <p:spPr>
          <a:xfrm>
            <a:off x="426551" y="1790947"/>
            <a:ext cx="9092601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5A93B81-963B-4091-95FB-B36DA186F55D}"/>
              </a:ext>
            </a:extLst>
          </p:cNvPr>
          <p:cNvSpPr txBox="1"/>
          <p:nvPr/>
        </p:nvSpPr>
        <p:spPr>
          <a:xfrm>
            <a:off x="401292" y="1810976"/>
            <a:ext cx="9092601" cy="893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조작된 페이지 </a:t>
            </a:r>
            <a:r>
              <a:rPr lang="en-US" altLang="ko-KR" sz="1200" b="0" i="0" dirty="0">
                <a:solidFill>
                  <a:srgbClr val="666666"/>
                </a:solidFill>
                <a:effectLst/>
                <a:latin typeface="NotoSans-Regular"/>
              </a:rPr>
              <a:t>DNS Spoofing</a:t>
            </a: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에 이용하여 사용자의 </a:t>
            </a:r>
            <a:r>
              <a:rPr lang="en-US" altLang="ko-KR" sz="1200" b="0" i="0" dirty="0">
                <a:solidFill>
                  <a:srgbClr val="666666"/>
                </a:solidFill>
                <a:effectLst/>
                <a:latin typeface="NotoSans-Regular"/>
              </a:rPr>
              <a:t>Access token</a:t>
            </a: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를 획득</a:t>
            </a:r>
            <a:br>
              <a:rPr lang="ko-KR" altLang="en-US" sz="1200" dirty="0"/>
            </a:br>
            <a:r>
              <a:rPr lang="en-US" altLang="ko-KR" sz="1200" b="0" i="0" dirty="0">
                <a:solidFill>
                  <a:srgbClr val="666666"/>
                </a:solidFill>
                <a:effectLst/>
                <a:latin typeface="NotoSans-Regular"/>
              </a:rPr>
              <a:t>Access token</a:t>
            </a: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를 이용하여 비밀번호나 </a:t>
            </a:r>
            <a:r>
              <a:rPr lang="en-US" altLang="ko-KR" sz="1200" b="0" i="0" dirty="0">
                <a:solidFill>
                  <a:srgbClr val="666666"/>
                </a:solidFill>
                <a:effectLst/>
                <a:latin typeface="NotoSans-Regular"/>
              </a:rPr>
              <a:t>2</a:t>
            </a: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단계 인증을 사용하지 않고도 </a:t>
            </a:r>
            <a:r>
              <a:rPr lang="en-US" altLang="ko-KR" sz="1200" b="0" i="0" dirty="0">
                <a:solidFill>
                  <a:srgbClr val="666666"/>
                </a:solidFill>
                <a:effectLst/>
                <a:latin typeface="NotoSans-Regular"/>
              </a:rPr>
              <a:t>API</a:t>
            </a: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를 이용해 계정 정보 유출 </a:t>
            </a:r>
            <a:r>
              <a:rPr lang="en-US" altLang="ko-KR" sz="1200" b="0" i="0" dirty="0">
                <a:solidFill>
                  <a:srgbClr val="666666"/>
                </a:solidFill>
                <a:effectLst/>
                <a:latin typeface="NotoSans-Regular"/>
              </a:rPr>
              <a:t>1</a:t>
            </a: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차 피해</a:t>
            </a:r>
            <a:br>
              <a:rPr lang="ko-KR" altLang="en-US" sz="1200" dirty="0"/>
            </a:b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유출된 개인 정보를 이용하여 </a:t>
            </a:r>
            <a:r>
              <a:rPr lang="en-US" altLang="ko-KR" sz="1200" b="0" i="0" dirty="0">
                <a:solidFill>
                  <a:srgbClr val="666666"/>
                </a:solidFill>
                <a:effectLst/>
                <a:latin typeface="NotoSans-Regular"/>
              </a:rPr>
              <a:t>Phishing, </a:t>
            </a:r>
            <a:r>
              <a:rPr lang="en-US" altLang="ko-KR" sz="1200" b="0" i="0" dirty="0" err="1">
                <a:solidFill>
                  <a:srgbClr val="666666"/>
                </a:solidFill>
                <a:effectLst/>
                <a:latin typeface="NotoSans-Regular"/>
              </a:rPr>
              <a:t>SMishing</a:t>
            </a: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을 통한 금전적인 </a:t>
            </a:r>
            <a:r>
              <a:rPr lang="en-US" altLang="ko-KR" sz="1200" b="0" i="0" dirty="0">
                <a:solidFill>
                  <a:srgbClr val="666666"/>
                </a:solidFill>
                <a:effectLst/>
                <a:latin typeface="NotoSans-Regular"/>
              </a:rPr>
              <a:t>2</a:t>
            </a: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차 피해</a:t>
            </a:r>
            <a:endParaRPr lang="en-US" altLang="ko-KR" sz="500" dirty="0">
              <a:latin typeface="Arita-dotum(TTF) Medium" panose="02020603020101020101" pitchFamily="18" charset="-127"/>
              <a:ea typeface="Arita-dotum(TTF) Medium" panose="02020603020101020101" pitchFamily="18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4180F67F-0724-4D66-A68F-0E73F2425794}"/>
              </a:ext>
            </a:extLst>
          </p:cNvPr>
          <p:cNvGrpSpPr/>
          <p:nvPr/>
        </p:nvGrpSpPr>
        <p:grpSpPr>
          <a:xfrm>
            <a:off x="6742536" y="3048572"/>
            <a:ext cx="1508979" cy="585939"/>
            <a:chOff x="6657264" y="2669246"/>
            <a:chExt cx="1508979" cy="585939"/>
          </a:xfrm>
        </p:grpSpPr>
        <p:sp>
          <p:nvSpPr>
            <p:cNvPr id="66" name="삼각형 45">
              <a:extLst>
                <a:ext uri="{FF2B5EF4-FFF2-40B4-BE49-F238E27FC236}">
                  <a16:creationId xmlns:a16="http://schemas.microsoft.com/office/drawing/2014/main" id="{81BA3A99-2E6D-4C45-9040-29385300940B}"/>
                </a:ext>
              </a:extLst>
            </p:cNvPr>
            <p:cNvSpPr/>
            <p:nvPr/>
          </p:nvSpPr>
          <p:spPr>
            <a:xfrm rot="5400000">
              <a:off x="6652273" y="2730796"/>
              <a:ext cx="133104" cy="123122"/>
            </a:xfrm>
            <a:prstGeom prst="triangle">
              <a:avLst/>
            </a:prstGeom>
            <a:solidFill>
              <a:srgbClr val="F4BA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F7742DA-91A1-4A0F-BD46-EF234665869B}"/>
                </a:ext>
              </a:extLst>
            </p:cNvPr>
            <p:cNvSpPr txBox="1"/>
            <p:nvPr/>
          </p:nvSpPr>
          <p:spPr>
            <a:xfrm>
              <a:off x="6812234" y="2669246"/>
              <a:ext cx="13540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진행 기간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D945192-38BF-4D10-9B7B-47EF81C22699}"/>
                </a:ext>
              </a:extLst>
            </p:cNvPr>
            <p:cNvSpPr txBox="1"/>
            <p:nvPr/>
          </p:nvSpPr>
          <p:spPr>
            <a:xfrm>
              <a:off x="6657264" y="3001269"/>
              <a:ext cx="131799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2017.08 ~ 2017.11</a:t>
              </a:r>
              <a:endParaRPr kumimoji="1" lang="ko-KR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8354CD0-4592-469D-AC1E-60C691B7767C}"/>
              </a:ext>
            </a:extLst>
          </p:cNvPr>
          <p:cNvGrpSpPr/>
          <p:nvPr/>
        </p:nvGrpSpPr>
        <p:grpSpPr>
          <a:xfrm>
            <a:off x="6742536" y="3743989"/>
            <a:ext cx="1508979" cy="734948"/>
            <a:chOff x="6657264" y="3368786"/>
            <a:chExt cx="1508979" cy="734948"/>
          </a:xfrm>
        </p:grpSpPr>
        <p:sp>
          <p:nvSpPr>
            <p:cNvPr id="146" name="삼각형 45">
              <a:extLst>
                <a:ext uri="{FF2B5EF4-FFF2-40B4-BE49-F238E27FC236}">
                  <a16:creationId xmlns:a16="http://schemas.microsoft.com/office/drawing/2014/main" id="{D4316302-52B8-4D2D-8955-7220CC5E1169}"/>
                </a:ext>
              </a:extLst>
            </p:cNvPr>
            <p:cNvSpPr/>
            <p:nvPr/>
          </p:nvSpPr>
          <p:spPr>
            <a:xfrm rot="5400000">
              <a:off x="6652273" y="3430336"/>
              <a:ext cx="133104" cy="123122"/>
            </a:xfrm>
            <a:prstGeom prst="triangle">
              <a:avLst/>
            </a:prstGeom>
            <a:solidFill>
              <a:srgbClr val="F4BA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CB579934-064B-4677-90FE-D6A21BBA8A5C}"/>
                </a:ext>
              </a:extLst>
            </p:cNvPr>
            <p:cNvSpPr txBox="1"/>
            <p:nvPr/>
          </p:nvSpPr>
          <p:spPr>
            <a:xfrm>
              <a:off x="6812234" y="3368786"/>
              <a:ext cx="135400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1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SKILLS / IDE</a:t>
              </a:r>
              <a:endParaRPr kumimoji="1" lang="ko-KR" altLang="en-US" sz="11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4BF8215D-85B0-40E7-9A77-5F269FAE6158}"/>
                </a:ext>
              </a:extLst>
            </p:cNvPr>
            <p:cNvSpPr txBox="1"/>
            <p:nvPr/>
          </p:nvSpPr>
          <p:spPr>
            <a:xfrm>
              <a:off x="6657264" y="3688236"/>
              <a:ext cx="788999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Java</a:t>
              </a:r>
            </a:p>
            <a:p>
              <a:r>
                <a:rPr kumimoji="1" lang="en-US" altLang="ko-KR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Wireshark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7F3D77D-B63E-4FDA-B608-4F178AFBACC9}"/>
              </a:ext>
            </a:extLst>
          </p:cNvPr>
          <p:cNvGrpSpPr/>
          <p:nvPr/>
        </p:nvGrpSpPr>
        <p:grpSpPr>
          <a:xfrm>
            <a:off x="6742536" y="5196839"/>
            <a:ext cx="1508979" cy="577081"/>
            <a:chOff x="6654694" y="4740005"/>
            <a:chExt cx="1508979" cy="577081"/>
          </a:xfrm>
        </p:grpSpPr>
        <p:sp>
          <p:nvSpPr>
            <p:cNvPr id="149" name="삼각형 45">
              <a:extLst>
                <a:ext uri="{FF2B5EF4-FFF2-40B4-BE49-F238E27FC236}">
                  <a16:creationId xmlns:a16="http://schemas.microsoft.com/office/drawing/2014/main" id="{079A80A8-5369-461E-B6E4-135C69EE1526}"/>
                </a:ext>
              </a:extLst>
            </p:cNvPr>
            <p:cNvSpPr/>
            <p:nvPr/>
          </p:nvSpPr>
          <p:spPr>
            <a:xfrm rot="5400000">
              <a:off x="6649703" y="4801555"/>
              <a:ext cx="133104" cy="123122"/>
            </a:xfrm>
            <a:prstGeom prst="triangle">
              <a:avLst/>
            </a:prstGeom>
            <a:solidFill>
              <a:srgbClr val="F4BA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C68DE23-AD92-4A6A-9490-222E27A3994C}"/>
                </a:ext>
              </a:extLst>
            </p:cNvPr>
            <p:cNvSpPr txBox="1"/>
            <p:nvPr/>
          </p:nvSpPr>
          <p:spPr>
            <a:xfrm>
              <a:off x="6809664" y="4740005"/>
              <a:ext cx="1354009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050" b="1" dirty="0" err="1">
                  <a:latin typeface="THEJung120" panose="02020603020101020101" pitchFamily="18" charset="-127"/>
                  <a:ea typeface="THEJung120" panose="02020603020101020101" pitchFamily="18" charset="-127"/>
                </a:rPr>
                <a:t>Github</a:t>
              </a:r>
              <a:r>
                <a:rPr kumimoji="1" lang="en-US" altLang="ko-KR" sz="105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 URL</a:t>
              </a:r>
            </a:p>
            <a:p>
              <a:endParaRPr kumimoji="1" lang="en-US" altLang="ko-KR" sz="105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  <a:p>
              <a:endParaRPr kumimoji="1" lang="ko-KR" altLang="en-US" sz="105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23DFFFF-8D2D-4283-972F-D56BB7E15D45}"/>
              </a:ext>
            </a:extLst>
          </p:cNvPr>
          <p:cNvGrpSpPr/>
          <p:nvPr/>
        </p:nvGrpSpPr>
        <p:grpSpPr>
          <a:xfrm>
            <a:off x="351449" y="452819"/>
            <a:ext cx="3455355" cy="642375"/>
            <a:chOff x="351449" y="452819"/>
            <a:chExt cx="3455355" cy="642375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8B0DFB2-A94A-4FC2-B63B-4E888CF56106}"/>
                </a:ext>
              </a:extLst>
            </p:cNvPr>
            <p:cNvSpPr txBox="1"/>
            <p:nvPr/>
          </p:nvSpPr>
          <p:spPr>
            <a:xfrm>
              <a:off x="463182" y="864362"/>
              <a:ext cx="1282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solidFill>
                    <a:schemeClr val="accent3">
                      <a:lumMod val="75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인적사항</a:t>
              </a:r>
              <a:endParaRPr lang="ko-KR" altLang="en-US" sz="700" dirty="0">
                <a:solidFill>
                  <a:schemeClr val="accent3">
                    <a:lumMod val="75000"/>
                  </a:schemeClr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156B9E7-7D28-4192-9C5B-8D9FD35A790C}"/>
                </a:ext>
              </a:extLst>
            </p:cNvPr>
            <p:cNvSpPr txBox="1"/>
            <p:nvPr/>
          </p:nvSpPr>
          <p:spPr>
            <a:xfrm>
              <a:off x="1164070" y="864362"/>
              <a:ext cx="83016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solidFill>
                    <a:schemeClr val="accent3">
                      <a:lumMod val="75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이수 과목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367887D-C509-407A-8051-E8DFFE71EB53}"/>
                </a:ext>
              </a:extLst>
            </p:cNvPr>
            <p:cNvSpPr txBox="1"/>
            <p:nvPr/>
          </p:nvSpPr>
          <p:spPr>
            <a:xfrm>
              <a:off x="1881749" y="846723"/>
              <a:ext cx="12822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PROJECTS</a:t>
              </a:r>
              <a:endParaRPr lang="ko-KR" altLang="en-US" sz="900" b="1" dirty="0"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C34CD92-D8EB-4DFD-9846-CB3C6A607BC9}"/>
                </a:ext>
              </a:extLst>
            </p:cNvPr>
            <p:cNvSpPr txBox="1"/>
            <p:nvPr/>
          </p:nvSpPr>
          <p:spPr>
            <a:xfrm>
              <a:off x="2612739" y="864362"/>
              <a:ext cx="119406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수상 </a:t>
              </a:r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/</a:t>
              </a:r>
              <a:r>
                <a: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자격증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E726CB8-2F4E-46E7-9682-5727ED496137}"/>
                </a:ext>
              </a:extLst>
            </p:cNvPr>
            <p:cNvSpPr txBox="1"/>
            <p:nvPr/>
          </p:nvSpPr>
          <p:spPr>
            <a:xfrm>
              <a:off x="351449" y="452819"/>
              <a:ext cx="28367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solidFill>
                    <a:srgbClr val="EC8A62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  </a:t>
              </a:r>
              <a:r>
                <a:rPr lang="en-US" altLang="ko-KR" b="1" dirty="0">
                  <a:solidFill>
                    <a:srgbClr val="EC8A62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[PORTFOLIO] </a:t>
              </a:r>
              <a:r>
                <a:rPr lang="ko-KR" altLang="en-US" b="1" dirty="0">
                  <a:solidFill>
                    <a:srgbClr val="EC8A62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이동훈</a:t>
              </a:r>
              <a:endParaRPr lang="ko-KR" altLang="en-US" sz="1000" b="1" dirty="0">
                <a:solidFill>
                  <a:srgbClr val="EC8A62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BCCEDB1-278C-4631-AA78-56BD7AE89EE4}"/>
              </a:ext>
            </a:extLst>
          </p:cNvPr>
          <p:cNvSpPr/>
          <p:nvPr/>
        </p:nvSpPr>
        <p:spPr>
          <a:xfrm>
            <a:off x="494623" y="3048572"/>
            <a:ext cx="5967137" cy="333753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291C43F-641F-462A-892D-724B0A211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24" y="3351794"/>
            <a:ext cx="5603956" cy="257745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9248267-703C-44AC-ADEA-6DB3EB0AC83A}"/>
              </a:ext>
            </a:extLst>
          </p:cNvPr>
          <p:cNvSpPr txBox="1"/>
          <p:nvPr/>
        </p:nvSpPr>
        <p:spPr>
          <a:xfrm>
            <a:off x="6804097" y="5513747"/>
            <a:ext cx="271505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https://github.com/programmerDH-github/Portfolio</a:t>
            </a:r>
          </a:p>
        </p:txBody>
      </p:sp>
    </p:spTree>
    <p:extLst>
      <p:ext uri="{BB962C8B-B14F-4D97-AF65-F5344CB8AC3E}">
        <p14:creationId xmlns:p14="http://schemas.microsoft.com/office/powerpoint/2010/main" val="3923142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B3F9EF3-0CD7-BF45-A62B-CCE747692D8B}"/>
              </a:ext>
            </a:extLst>
          </p:cNvPr>
          <p:cNvSpPr/>
          <p:nvPr/>
        </p:nvSpPr>
        <p:spPr>
          <a:xfrm>
            <a:off x="235570" y="259482"/>
            <a:ext cx="9670430" cy="64265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B28E24-544C-4B74-8F2C-E7F4BBBAC81A}"/>
              </a:ext>
            </a:extLst>
          </p:cNvPr>
          <p:cNvSpPr txBox="1"/>
          <p:nvPr/>
        </p:nvSpPr>
        <p:spPr>
          <a:xfrm>
            <a:off x="426551" y="1409613"/>
            <a:ext cx="905289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b="1" dirty="0" err="1">
                <a:solidFill>
                  <a:srgbClr val="EC8A62"/>
                </a:solidFill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아두이노의</a:t>
            </a:r>
            <a:r>
              <a:rPr lang="ko-KR" altLang="en-US" sz="2300" b="1" dirty="0">
                <a:solidFill>
                  <a:srgbClr val="EC8A62"/>
                </a:solidFill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 진동 감지 센서를 이용한 응급환자 구조</a:t>
            </a:r>
            <a:endParaRPr lang="en-US" altLang="ko-KR" sz="2300" b="1" dirty="0">
              <a:solidFill>
                <a:srgbClr val="EC8A62"/>
              </a:solidFill>
              <a:latin typeface="Arita-dotum(TTF) Medium" panose="02020603020101020101" pitchFamily="18" charset="-127"/>
              <a:ea typeface="Arita-dotum(TTF) Medium" panose="02020603020101020101" pitchFamily="18" charset="-12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97742B75-B8B9-487E-B3B8-E5FF3049E6A0}"/>
              </a:ext>
            </a:extLst>
          </p:cNvPr>
          <p:cNvCxnSpPr>
            <a:cxnSpLocks/>
          </p:cNvCxnSpPr>
          <p:nvPr/>
        </p:nvCxnSpPr>
        <p:spPr>
          <a:xfrm>
            <a:off x="426551" y="1790947"/>
            <a:ext cx="9092601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5A93B81-963B-4091-95FB-B36DA186F55D}"/>
              </a:ext>
            </a:extLst>
          </p:cNvPr>
          <p:cNvSpPr txBox="1"/>
          <p:nvPr/>
        </p:nvSpPr>
        <p:spPr>
          <a:xfrm>
            <a:off x="401292" y="1810976"/>
            <a:ext cx="9092601" cy="616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altLang="ko-KR" sz="1200" b="0" i="0" dirty="0">
              <a:solidFill>
                <a:srgbClr val="666666"/>
              </a:solidFill>
              <a:effectLst/>
              <a:latin typeface="NotoSans-Regular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i="0" dirty="0">
                <a:solidFill>
                  <a:srgbClr val="666666"/>
                </a:solidFill>
                <a:effectLst/>
                <a:latin typeface="NotoSans-Regular"/>
              </a:rPr>
              <a:t>Python</a:t>
            </a: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을 기반으로 </a:t>
            </a:r>
            <a:r>
              <a:rPr lang="en-US" altLang="ko-KR" sz="1200" b="0" i="0" dirty="0">
                <a:solidFill>
                  <a:srgbClr val="666666"/>
                </a:solidFill>
                <a:effectLst/>
                <a:latin typeface="NotoSans-Regular"/>
              </a:rPr>
              <a:t>Arduino</a:t>
            </a: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의 진동센서와 </a:t>
            </a:r>
            <a:r>
              <a:rPr lang="en-US" altLang="ko-KR" sz="1200" b="0" i="0" dirty="0">
                <a:solidFill>
                  <a:srgbClr val="666666"/>
                </a:solidFill>
                <a:effectLst/>
                <a:latin typeface="NotoSans-Regular"/>
              </a:rPr>
              <a:t>LED </a:t>
            </a: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발광 다이오드 그리고 </a:t>
            </a:r>
            <a:r>
              <a:rPr lang="en-US" altLang="ko-KR" sz="1200" b="0" i="0" dirty="0">
                <a:solidFill>
                  <a:srgbClr val="666666"/>
                </a:solidFill>
                <a:effectLst/>
                <a:latin typeface="NotoSans-Regular"/>
              </a:rPr>
              <a:t>Piezo Buzzer</a:t>
            </a: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를 이용한 응급환자 구조</a:t>
            </a:r>
            <a:endParaRPr lang="en-US" altLang="ko-KR" sz="500" dirty="0">
              <a:latin typeface="Arita-dotum(TTF) Medium" panose="02020603020101020101" pitchFamily="18" charset="-127"/>
              <a:ea typeface="Arita-dotum(TTF) Medium" panose="02020603020101020101" pitchFamily="18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4180F67F-0724-4D66-A68F-0E73F2425794}"/>
              </a:ext>
            </a:extLst>
          </p:cNvPr>
          <p:cNvGrpSpPr/>
          <p:nvPr/>
        </p:nvGrpSpPr>
        <p:grpSpPr>
          <a:xfrm>
            <a:off x="6742536" y="3048572"/>
            <a:ext cx="1508979" cy="585939"/>
            <a:chOff x="6657264" y="2669246"/>
            <a:chExt cx="1508979" cy="585939"/>
          </a:xfrm>
        </p:grpSpPr>
        <p:sp>
          <p:nvSpPr>
            <p:cNvPr id="66" name="삼각형 45">
              <a:extLst>
                <a:ext uri="{FF2B5EF4-FFF2-40B4-BE49-F238E27FC236}">
                  <a16:creationId xmlns:a16="http://schemas.microsoft.com/office/drawing/2014/main" id="{81BA3A99-2E6D-4C45-9040-29385300940B}"/>
                </a:ext>
              </a:extLst>
            </p:cNvPr>
            <p:cNvSpPr/>
            <p:nvPr/>
          </p:nvSpPr>
          <p:spPr>
            <a:xfrm rot="5400000">
              <a:off x="6652273" y="2730796"/>
              <a:ext cx="133104" cy="123122"/>
            </a:xfrm>
            <a:prstGeom prst="triangle">
              <a:avLst/>
            </a:prstGeom>
            <a:solidFill>
              <a:srgbClr val="F4BA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F7742DA-91A1-4A0F-BD46-EF234665869B}"/>
                </a:ext>
              </a:extLst>
            </p:cNvPr>
            <p:cNvSpPr txBox="1"/>
            <p:nvPr/>
          </p:nvSpPr>
          <p:spPr>
            <a:xfrm>
              <a:off x="6812234" y="2669246"/>
              <a:ext cx="13540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진행 기간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D945192-38BF-4D10-9B7B-47EF81C22699}"/>
                </a:ext>
              </a:extLst>
            </p:cNvPr>
            <p:cNvSpPr txBox="1"/>
            <p:nvPr/>
          </p:nvSpPr>
          <p:spPr>
            <a:xfrm>
              <a:off x="6657264" y="3001269"/>
              <a:ext cx="131799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2017.08 ~ 2017.11</a:t>
              </a:r>
              <a:endParaRPr kumimoji="1" lang="ko-KR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8354CD0-4592-469D-AC1E-60C691B7767C}"/>
              </a:ext>
            </a:extLst>
          </p:cNvPr>
          <p:cNvGrpSpPr/>
          <p:nvPr/>
        </p:nvGrpSpPr>
        <p:grpSpPr>
          <a:xfrm>
            <a:off x="6742536" y="3743989"/>
            <a:ext cx="1508979" cy="896531"/>
            <a:chOff x="6657264" y="3368786"/>
            <a:chExt cx="1508979" cy="896531"/>
          </a:xfrm>
        </p:grpSpPr>
        <p:sp>
          <p:nvSpPr>
            <p:cNvPr id="146" name="삼각형 45">
              <a:extLst>
                <a:ext uri="{FF2B5EF4-FFF2-40B4-BE49-F238E27FC236}">
                  <a16:creationId xmlns:a16="http://schemas.microsoft.com/office/drawing/2014/main" id="{D4316302-52B8-4D2D-8955-7220CC5E1169}"/>
                </a:ext>
              </a:extLst>
            </p:cNvPr>
            <p:cNvSpPr/>
            <p:nvPr/>
          </p:nvSpPr>
          <p:spPr>
            <a:xfrm rot="5400000">
              <a:off x="6652273" y="3430336"/>
              <a:ext cx="133104" cy="123122"/>
            </a:xfrm>
            <a:prstGeom prst="triangle">
              <a:avLst/>
            </a:prstGeom>
            <a:solidFill>
              <a:srgbClr val="F4BA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CB579934-064B-4677-90FE-D6A21BBA8A5C}"/>
                </a:ext>
              </a:extLst>
            </p:cNvPr>
            <p:cNvSpPr txBox="1"/>
            <p:nvPr/>
          </p:nvSpPr>
          <p:spPr>
            <a:xfrm>
              <a:off x="6812234" y="3368786"/>
              <a:ext cx="135400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1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SKILLS / IDE</a:t>
              </a:r>
              <a:endParaRPr kumimoji="1" lang="ko-KR" altLang="en-US" sz="11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4BF8215D-85B0-40E7-9A77-5F269FAE6158}"/>
                </a:ext>
              </a:extLst>
            </p:cNvPr>
            <p:cNvSpPr txBox="1"/>
            <p:nvPr/>
          </p:nvSpPr>
          <p:spPr>
            <a:xfrm>
              <a:off x="6657264" y="3688236"/>
              <a:ext cx="947695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Python</a:t>
              </a:r>
            </a:p>
            <a:p>
              <a:r>
                <a:rPr kumimoji="1" lang="en-US" altLang="ko-KR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Arduino</a:t>
              </a:r>
            </a:p>
            <a:p>
              <a:r>
                <a:rPr kumimoji="1" lang="en-US" altLang="ko-KR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Raspberry Pi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7F3D77D-B63E-4FDA-B608-4F178AFBACC9}"/>
              </a:ext>
            </a:extLst>
          </p:cNvPr>
          <p:cNvGrpSpPr/>
          <p:nvPr/>
        </p:nvGrpSpPr>
        <p:grpSpPr>
          <a:xfrm>
            <a:off x="6742536" y="5196839"/>
            <a:ext cx="1508979" cy="253916"/>
            <a:chOff x="6654694" y="4740005"/>
            <a:chExt cx="1508979" cy="253916"/>
          </a:xfrm>
        </p:grpSpPr>
        <p:sp>
          <p:nvSpPr>
            <p:cNvPr id="149" name="삼각형 45">
              <a:extLst>
                <a:ext uri="{FF2B5EF4-FFF2-40B4-BE49-F238E27FC236}">
                  <a16:creationId xmlns:a16="http://schemas.microsoft.com/office/drawing/2014/main" id="{079A80A8-5369-461E-B6E4-135C69EE1526}"/>
                </a:ext>
              </a:extLst>
            </p:cNvPr>
            <p:cNvSpPr/>
            <p:nvPr/>
          </p:nvSpPr>
          <p:spPr>
            <a:xfrm rot="5400000">
              <a:off x="6649703" y="4801555"/>
              <a:ext cx="133104" cy="123122"/>
            </a:xfrm>
            <a:prstGeom prst="triangle">
              <a:avLst/>
            </a:prstGeom>
            <a:solidFill>
              <a:srgbClr val="F4BA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C68DE23-AD92-4A6A-9490-222E27A3994C}"/>
                </a:ext>
              </a:extLst>
            </p:cNvPr>
            <p:cNvSpPr txBox="1"/>
            <p:nvPr/>
          </p:nvSpPr>
          <p:spPr>
            <a:xfrm>
              <a:off x="6809664" y="4740005"/>
              <a:ext cx="13540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050" b="1" dirty="0" err="1">
                  <a:latin typeface="THEJung120" panose="02020603020101020101" pitchFamily="18" charset="-127"/>
                  <a:ea typeface="THEJung120" panose="02020603020101020101" pitchFamily="18" charset="-127"/>
                </a:rPr>
                <a:t>Github</a:t>
              </a:r>
              <a:r>
                <a:rPr kumimoji="1" lang="en-US" altLang="ko-KR" sz="105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 URL</a:t>
              </a:r>
              <a:endParaRPr kumimoji="1" lang="ko-KR" altLang="en-US" sz="105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23DFFFF-8D2D-4283-972F-D56BB7E15D45}"/>
              </a:ext>
            </a:extLst>
          </p:cNvPr>
          <p:cNvGrpSpPr/>
          <p:nvPr/>
        </p:nvGrpSpPr>
        <p:grpSpPr>
          <a:xfrm>
            <a:off x="351449" y="452819"/>
            <a:ext cx="3455355" cy="642375"/>
            <a:chOff x="351449" y="452819"/>
            <a:chExt cx="3455355" cy="642375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8B0DFB2-A94A-4FC2-B63B-4E888CF56106}"/>
                </a:ext>
              </a:extLst>
            </p:cNvPr>
            <p:cNvSpPr txBox="1"/>
            <p:nvPr/>
          </p:nvSpPr>
          <p:spPr>
            <a:xfrm>
              <a:off x="463182" y="864362"/>
              <a:ext cx="1282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solidFill>
                    <a:schemeClr val="accent3">
                      <a:lumMod val="75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인적사항</a:t>
              </a:r>
              <a:endParaRPr lang="ko-KR" altLang="en-US" sz="700" dirty="0">
                <a:solidFill>
                  <a:schemeClr val="accent3">
                    <a:lumMod val="75000"/>
                  </a:schemeClr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156B9E7-7D28-4192-9C5B-8D9FD35A790C}"/>
                </a:ext>
              </a:extLst>
            </p:cNvPr>
            <p:cNvSpPr txBox="1"/>
            <p:nvPr/>
          </p:nvSpPr>
          <p:spPr>
            <a:xfrm>
              <a:off x="1164070" y="864362"/>
              <a:ext cx="83016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solidFill>
                    <a:schemeClr val="accent3">
                      <a:lumMod val="75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이수 과목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367887D-C509-407A-8051-E8DFFE71EB53}"/>
                </a:ext>
              </a:extLst>
            </p:cNvPr>
            <p:cNvSpPr txBox="1"/>
            <p:nvPr/>
          </p:nvSpPr>
          <p:spPr>
            <a:xfrm>
              <a:off x="1881749" y="846723"/>
              <a:ext cx="12822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PROJECTS</a:t>
              </a:r>
              <a:endParaRPr lang="ko-KR" altLang="en-US" sz="900" b="1" dirty="0"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C34CD92-D8EB-4DFD-9846-CB3C6A607BC9}"/>
                </a:ext>
              </a:extLst>
            </p:cNvPr>
            <p:cNvSpPr txBox="1"/>
            <p:nvPr/>
          </p:nvSpPr>
          <p:spPr>
            <a:xfrm>
              <a:off x="2612739" y="864362"/>
              <a:ext cx="119406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수상 </a:t>
              </a:r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/</a:t>
              </a:r>
              <a:r>
                <a: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자격증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E726CB8-2F4E-46E7-9682-5727ED496137}"/>
                </a:ext>
              </a:extLst>
            </p:cNvPr>
            <p:cNvSpPr txBox="1"/>
            <p:nvPr/>
          </p:nvSpPr>
          <p:spPr>
            <a:xfrm>
              <a:off x="351449" y="452819"/>
              <a:ext cx="28367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solidFill>
                    <a:srgbClr val="EC8A62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  </a:t>
              </a:r>
              <a:r>
                <a:rPr lang="en-US" altLang="ko-KR" b="1" dirty="0">
                  <a:solidFill>
                    <a:srgbClr val="EC8A62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[PORTFOLIO] </a:t>
              </a:r>
              <a:r>
                <a:rPr lang="ko-KR" altLang="en-US" b="1" dirty="0">
                  <a:solidFill>
                    <a:srgbClr val="EC8A62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이동훈</a:t>
              </a:r>
              <a:endParaRPr lang="ko-KR" altLang="en-US" sz="1000" b="1" dirty="0">
                <a:solidFill>
                  <a:srgbClr val="EC8A62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BCCEDB1-278C-4631-AA78-56BD7AE89EE4}"/>
              </a:ext>
            </a:extLst>
          </p:cNvPr>
          <p:cNvSpPr/>
          <p:nvPr/>
        </p:nvSpPr>
        <p:spPr>
          <a:xfrm>
            <a:off x="494623" y="3048572"/>
            <a:ext cx="5967137" cy="333753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EE9F08C-4959-4AB7-AD73-41A6A321A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991" y="3585508"/>
            <a:ext cx="3962400" cy="225742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C8691ED9-0C5B-40D1-A787-3F4EE8C46273}"/>
              </a:ext>
            </a:extLst>
          </p:cNvPr>
          <p:cNvSpPr txBox="1"/>
          <p:nvPr/>
        </p:nvSpPr>
        <p:spPr>
          <a:xfrm>
            <a:off x="6804097" y="5516842"/>
            <a:ext cx="271505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5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https://github.com/programmerDH-github/Portfolio</a:t>
            </a:r>
            <a:endParaRPr kumimoji="1" lang="en-US" altLang="ko-KR" sz="1050" dirty="0">
              <a:solidFill>
                <a:schemeClr val="tx1">
                  <a:lumMod val="50000"/>
                  <a:lumOff val="50000"/>
                </a:schemeClr>
              </a:solidFill>
              <a:latin typeface="THEJung120" panose="02020603020101020101" pitchFamily="18" charset="-127"/>
              <a:ea typeface="THEJung120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7668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B3F9EF3-0CD7-BF45-A62B-CCE747692D8B}"/>
              </a:ext>
            </a:extLst>
          </p:cNvPr>
          <p:cNvSpPr/>
          <p:nvPr/>
        </p:nvSpPr>
        <p:spPr>
          <a:xfrm>
            <a:off x="235570" y="259482"/>
            <a:ext cx="9670430" cy="64265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B28E24-544C-4B74-8F2C-E7F4BBBAC81A}"/>
              </a:ext>
            </a:extLst>
          </p:cNvPr>
          <p:cNvSpPr txBox="1"/>
          <p:nvPr/>
        </p:nvSpPr>
        <p:spPr>
          <a:xfrm>
            <a:off x="426551" y="1409613"/>
            <a:ext cx="905289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b="1" dirty="0">
                <a:solidFill>
                  <a:srgbClr val="EC8A62"/>
                </a:solidFill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Wireless Network</a:t>
            </a:r>
            <a:r>
              <a:rPr lang="ko-KR" altLang="en-US" sz="2300" b="1" dirty="0">
                <a:solidFill>
                  <a:srgbClr val="EC8A62"/>
                </a:solidFill>
                <a:latin typeface="Arita-dotum(TTF) Medium" panose="02020603020101020101" pitchFamily="18" charset="-127"/>
                <a:ea typeface="Arita-dotum(TTF) Medium" panose="02020603020101020101" pitchFamily="18" charset="-127"/>
              </a:rPr>
              <a:t>를 이용한 개인 정보 유출 시나리오</a:t>
            </a:r>
            <a:endParaRPr lang="en-US" altLang="ko-KR" sz="2300" b="1" dirty="0">
              <a:solidFill>
                <a:srgbClr val="EC8A62"/>
              </a:solidFill>
              <a:latin typeface="Arita-dotum(TTF) Medium" panose="02020603020101020101" pitchFamily="18" charset="-127"/>
              <a:ea typeface="Arita-dotum(TTF) Medium" panose="02020603020101020101" pitchFamily="18" charset="-12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97742B75-B8B9-487E-B3B8-E5FF3049E6A0}"/>
              </a:ext>
            </a:extLst>
          </p:cNvPr>
          <p:cNvCxnSpPr>
            <a:cxnSpLocks/>
          </p:cNvCxnSpPr>
          <p:nvPr/>
        </p:nvCxnSpPr>
        <p:spPr>
          <a:xfrm>
            <a:off x="426551" y="1790947"/>
            <a:ext cx="9092601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5A93B81-963B-4091-95FB-B36DA186F55D}"/>
              </a:ext>
            </a:extLst>
          </p:cNvPr>
          <p:cNvSpPr txBox="1"/>
          <p:nvPr/>
        </p:nvSpPr>
        <p:spPr>
          <a:xfrm>
            <a:off x="401292" y="1810976"/>
            <a:ext cx="9092601" cy="616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0" i="0" dirty="0">
                <a:solidFill>
                  <a:srgbClr val="666666"/>
                </a:solidFill>
                <a:effectLst/>
                <a:latin typeface="NotoSans-Regular"/>
              </a:rPr>
              <a:t>Dummy WI FI</a:t>
            </a: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에 접속을 유도한 뒤 </a:t>
            </a:r>
            <a:r>
              <a:rPr lang="en-US" altLang="ko-KR" sz="1200" b="0" i="0" dirty="0" err="1">
                <a:solidFill>
                  <a:srgbClr val="666666"/>
                </a:solidFill>
                <a:effectLst/>
                <a:latin typeface="NotoSans-Regular"/>
              </a:rPr>
              <a:t>WireShark</a:t>
            </a: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를 이용하여 로그인 패킷을 </a:t>
            </a:r>
            <a:r>
              <a:rPr lang="en-US" altLang="ko-KR" sz="1200" b="0" i="0" dirty="0">
                <a:solidFill>
                  <a:srgbClr val="666666"/>
                </a:solidFill>
                <a:effectLst/>
                <a:latin typeface="NotoSans-Regular"/>
              </a:rPr>
              <a:t>Sniffing</a:t>
            </a:r>
            <a:br>
              <a:rPr lang="ko-KR" altLang="en-US" sz="1200" dirty="0"/>
            </a:b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개인 정보 유출 </a:t>
            </a:r>
            <a:r>
              <a:rPr lang="en-US" altLang="ko-KR" sz="1200" b="0" i="0" dirty="0">
                <a:solidFill>
                  <a:srgbClr val="666666"/>
                </a:solidFill>
                <a:effectLst/>
                <a:latin typeface="NotoSans-Regular"/>
              </a:rPr>
              <a:t>1</a:t>
            </a: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차 피해 발생 및 </a:t>
            </a:r>
            <a:r>
              <a:rPr lang="en-US" altLang="ko-KR" sz="1200" b="0" i="0" dirty="0" err="1">
                <a:solidFill>
                  <a:srgbClr val="666666"/>
                </a:solidFill>
                <a:effectLst/>
                <a:latin typeface="NotoSans-Regular"/>
              </a:rPr>
              <a:t>SMishing</a:t>
            </a: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을 통한 악성 앱 설치를 유도하여 금전적 </a:t>
            </a:r>
            <a:r>
              <a:rPr lang="en-US" altLang="ko-KR" sz="1200" b="0" i="0" dirty="0">
                <a:solidFill>
                  <a:srgbClr val="666666"/>
                </a:solidFill>
                <a:effectLst/>
                <a:latin typeface="NotoSans-Regular"/>
              </a:rPr>
              <a:t>2</a:t>
            </a:r>
            <a:r>
              <a:rPr lang="ko-KR" altLang="en-US" sz="1200" b="0" i="0" dirty="0">
                <a:solidFill>
                  <a:srgbClr val="666666"/>
                </a:solidFill>
                <a:effectLst/>
                <a:latin typeface="NotoSans-Regular"/>
              </a:rPr>
              <a:t>차 피해 발생</a:t>
            </a:r>
            <a:endParaRPr lang="en-US" altLang="ko-KR" sz="500" dirty="0">
              <a:latin typeface="Arita-dotum(TTF) Medium" panose="02020603020101020101" pitchFamily="18" charset="-127"/>
              <a:ea typeface="Arita-dotum(TTF) Medium" panose="02020603020101020101" pitchFamily="18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4180F67F-0724-4D66-A68F-0E73F2425794}"/>
              </a:ext>
            </a:extLst>
          </p:cNvPr>
          <p:cNvGrpSpPr/>
          <p:nvPr/>
        </p:nvGrpSpPr>
        <p:grpSpPr>
          <a:xfrm>
            <a:off x="6742536" y="3048572"/>
            <a:ext cx="1508979" cy="585939"/>
            <a:chOff x="6657264" y="2669246"/>
            <a:chExt cx="1508979" cy="585939"/>
          </a:xfrm>
        </p:grpSpPr>
        <p:sp>
          <p:nvSpPr>
            <p:cNvPr id="66" name="삼각형 45">
              <a:extLst>
                <a:ext uri="{FF2B5EF4-FFF2-40B4-BE49-F238E27FC236}">
                  <a16:creationId xmlns:a16="http://schemas.microsoft.com/office/drawing/2014/main" id="{81BA3A99-2E6D-4C45-9040-29385300940B}"/>
                </a:ext>
              </a:extLst>
            </p:cNvPr>
            <p:cNvSpPr/>
            <p:nvPr/>
          </p:nvSpPr>
          <p:spPr>
            <a:xfrm rot="5400000">
              <a:off x="6652273" y="2730796"/>
              <a:ext cx="133104" cy="123122"/>
            </a:xfrm>
            <a:prstGeom prst="triangle">
              <a:avLst/>
            </a:prstGeom>
            <a:solidFill>
              <a:srgbClr val="F4BA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F7742DA-91A1-4A0F-BD46-EF234665869B}"/>
                </a:ext>
              </a:extLst>
            </p:cNvPr>
            <p:cNvSpPr txBox="1"/>
            <p:nvPr/>
          </p:nvSpPr>
          <p:spPr>
            <a:xfrm>
              <a:off x="6812234" y="2669246"/>
              <a:ext cx="13540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12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진행 기간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D945192-38BF-4D10-9B7B-47EF81C22699}"/>
                </a:ext>
              </a:extLst>
            </p:cNvPr>
            <p:cNvSpPr txBox="1"/>
            <p:nvPr/>
          </p:nvSpPr>
          <p:spPr>
            <a:xfrm>
              <a:off x="6657264" y="3001269"/>
              <a:ext cx="131799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2016.08 ~ 2016.11</a:t>
              </a:r>
              <a:endParaRPr kumimoji="1" lang="ko-KR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8354CD0-4592-469D-AC1E-60C691B7767C}"/>
              </a:ext>
            </a:extLst>
          </p:cNvPr>
          <p:cNvGrpSpPr/>
          <p:nvPr/>
        </p:nvGrpSpPr>
        <p:grpSpPr>
          <a:xfrm>
            <a:off x="6742536" y="3743989"/>
            <a:ext cx="1508979" cy="896531"/>
            <a:chOff x="6657264" y="3368786"/>
            <a:chExt cx="1508979" cy="896531"/>
          </a:xfrm>
        </p:grpSpPr>
        <p:sp>
          <p:nvSpPr>
            <p:cNvPr id="146" name="삼각형 45">
              <a:extLst>
                <a:ext uri="{FF2B5EF4-FFF2-40B4-BE49-F238E27FC236}">
                  <a16:creationId xmlns:a16="http://schemas.microsoft.com/office/drawing/2014/main" id="{D4316302-52B8-4D2D-8955-7220CC5E1169}"/>
                </a:ext>
              </a:extLst>
            </p:cNvPr>
            <p:cNvSpPr/>
            <p:nvPr/>
          </p:nvSpPr>
          <p:spPr>
            <a:xfrm rot="5400000">
              <a:off x="6652273" y="3430336"/>
              <a:ext cx="133104" cy="123122"/>
            </a:xfrm>
            <a:prstGeom prst="triangle">
              <a:avLst/>
            </a:prstGeom>
            <a:solidFill>
              <a:srgbClr val="F4BA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CB579934-064B-4677-90FE-D6A21BBA8A5C}"/>
                </a:ext>
              </a:extLst>
            </p:cNvPr>
            <p:cNvSpPr txBox="1"/>
            <p:nvPr/>
          </p:nvSpPr>
          <p:spPr>
            <a:xfrm>
              <a:off x="6812234" y="3368786"/>
              <a:ext cx="135400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10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SKILLS / IDE</a:t>
              </a:r>
              <a:endParaRPr kumimoji="1" lang="ko-KR" altLang="en-US" sz="110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4BF8215D-85B0-40E7-9A77-5F269FAE6158}"/>
                </a:ext>
              </a:extLst>
            </p:cNvPr>
            <p:cNvSpPr txBox="1"/>
            <p:nvPr/>
          </p:nvSpPr>
          <p:spPr>
            <a:xfrm>
              <a:off x="6657264" y="3688236"/>
              <a:ext cx="788999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Java</a:t>
              </a:r>
            </a:p>
            <a:p>
              <a:r>
                <a:rPr kumimoji="1" lang="en-US" altLang="ko-KR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HEJung120" panose="02020603020101020101" pitchFamily="18" charset="-127"/>
                  <a:ea typeface="THEJung120" panose="02020603020101020101" pitchFamily="18" charset="-127"/>
                </a:rPr>
                <a:t>Wireshark</a:t>
              </a:r>
            </a:p>
            <a:p>
              <a:endParaRPr kumimoji="1"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7F3D77D-B63E-4FDA-B608-4F178AFBACC9}"/>
              </a:ext>
            </a:extLst>
          </p:cNvPr>
          <p:cNvGrpSpPr/>
          <p:nvPr/>
        </p:nvGrpSpPr>
        <p:grpSpPr>
          <a:xfrm>
            <a:off x="6742536" y="5196839"/>
            <a:ext cx="1508979" cy="253916"/>
            <a:chOff x="6654694" y="4740005"/>
            <a:chExt cx="1508979" cy="253916"/>
          </a:xfrm>
        </p:grpSpPr>
        <p:sp>
          <p:nvSpPr>
            <p:cNvPr id="149" name="삼각형 45">
              <a:extLst>
                <a:ext uri="{FF2B5EF4-FFF2-40B4-BE49-F238E27FC236}">
                  <a16:creationId xmlns:a16="http://schemas.microsoft.com/office/drawing/2014/main" id="{079A80A8-5369-461E-B6E4-135C69EE1526}"/>
                </a:ext>
              </a:extLst>
            </p:cNvPr>
            <p:cNvSpPr/>
            <p:nvPr/>
          </p:nvSpPr>
          <p:spPr>
            <a:xfrm rot="5400000">
              <a:off x="6649703" y="4801555"/>
              <a:ext cx="133104" cy="123122"/>
            </a:xfrm>
            <a:prstGeom prst="triangle">
              <a:avLst/>
            </a:prstGeom>
            <a:solidFill>
              <a:srgbClr val="F4BA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C68DE23-AD92-4A6A-9490-222E27A3994C}"/>
                </a:ext>
              </a:extLst>
            </p:cNvPr>
            <p:cNvSpPr txBox="1"/>
            <p:nvPr/>
          </p:nvSpPr>
          <p:spPr>
            <a:xfrm>
              <a:off x="6809664" y="4740005"/>
              <a:ext cx="13540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050" b="1" dirty="0" err="1">
                  <a:latin typeface="THEJung120" panose="02020603020101020101" pitchFamily="18" charset="-127"/>
                  <a:ea typeface="THEJung120" panose="02020603020101020101" pitchFamily="18" charset="-127"/>
                </a:rPr>
                <a:t>Github</a:t>
              </a:r>
              <a:r>
                <a:rPr kumimoji="1" lang="en-US" altLang="ko-KR" sz="1050" b="1" dirty="0">
                  <a:latin typeface="THEJung120" panose="02020603020101020101" pitchFamily="18" charset="-127"/>
                  <a:ea typeface="THEJung120" panose="02020603020101020101" pitchFamily="18" charset="-127"/>
                </a:rPr>
                <a:t> URL</a:t>
              </a:r>
              <a:endParaRPr kumimoji="1" lang="ko-KR" altLang="en-US" sz="1050" b="1" dirty="0">
                <a:latin typeface="THEJung120" panose="02020603020101020101" pitchFamily="18" charset="-127"/>
                <a:ea typeface="THEJung120" panose="02020603020101020101" pitchFamily="18" charset="-127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23DFFFF-8D2D-4283-972F-D56BB7E15D45}"/>
              </a:ext>
            </a:extLst>
          </p:cNvPr>
          <p:cNvGrpSpPr/>
          <p:nvPr/>
        </p:nvGrpSpPr>
        <p:grpSpPr>
          <a:xfrm>
            <a:off x="351449" y="452819"/>
            <a:ext cx="3455355" cy="642375"/>
            <a:chOff x="351449" y="452819"/>
            <a:chExt cx="3455355" cy="642375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8B0DFB2-A94A-4FC2-B63B-4E888CF56106}"/>
                </a:ext>
              </a:extLst>
            </p:cNvPr>
            <p:cNvSpPr txBox="1"/>
            <p:nvPr/>
          </p:nvSpPr>
          <p:spPr>
            <a:xfrm>
              <a:off x="463182" y="864362"/>
              <a:ext cx="1282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solidFill>
                    <a:schemeClr val="accent3">
                      <a:lumMod val="75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인적사항</a:t>
              </a:r>
              <a:endParaRPr lang="ko-KR" altLang="en-US" sz="700" dirty="0">
                <a:solidFill>
                  <a:schemeClr val="accent3">
                    <a:lumMod val="75000"/>
                  </a:schemeClr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156B9E7-7D28-4192-9C5B-8D9FD35A790C}"/>
                </a:ext>
              </a:extLst>
            </p:cNvPr>
            <p:cNvSpPr txBox="1"/>
            <p:nvPr/>
          </p:nvSpPr>
          <p:spPr>
            <a:xfrm>
              <a:off x="1164070" y="864362"/>
              <a:ext cx="83016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solidFill>
                    <a:schemeClr val="accent3">
                      <a:lumMod val="75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이수 과목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367887D-C509-407A-8051-E8DFFE71EB53}"/>
                </a:ext>
              </a:extLst>
            </p:cNvPr>
            <p:cNvSpPr txBox="1"/>
            <p:nvPr/>
          </p:nvSpPr>
          <p:spPr>
            <a:xfrm>
              <a:off x="1881749" y="846723"/>
              <a:ext cx="12822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PROJECTS</a:t>
              </a:r>
              <a:endParaRPr lang="ko-KR" altLang="en-US" sz="900" b="1" dirty="0"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C34CD92-D8EB-4DFD-9846-CB3C6A607BC9}"/>
                </a:ext>
              </a:extLst>
            </p:cNvPr>
            <p:cNvSpPr txBox="1"/>
            <p:nvPr/>
          </p:nvSpPr>
          <p:spPr>
            <a:xfrm>
              <a:off x="2612739" y="864362"/>
              <a:ext cx="119406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수상 </a:t>
              </a:r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/</a:t>
              </a:r>
              <a:r>
                <a: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자격증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E726CB8-2F4E-46E7-9682-5727ED496137}"/>
                </a:ext>
              </a:extLst>
            </p:cNvPr>
            <p:cNvSpPr txBox="1"/>
            <p:nvPr/>
          </p:nvSpPr>
          <p:spPr>
            <a:xfrm>
              <a:off x="351449" y="452819"/>
              <a:ext cx="28367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solidFill>
                    <a:srgbClr val="EC8A62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  </a:t>
              </a:r>
              <a:r>
                <a:rPr lang="en-US" altLang="ko-KR" b="1" dirty="0">
                  <a:solidFill>
                    <a:srgbClr val="EC8A62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[PORTFOLIO] </a:t>
              </a:r>
              <a:r>
                <a:rPr lang="ko-KR" altLang="en-US" b="1" dirty="0">
                  <a:solidFill>
                    <a:srgbClr val="EC8A62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이동훈</a:t>
              </a:r>
              <a:endParaRPr lang="ko-KR" altLang="en-US" sz="1000" b="1" dirty="0">
                <a:solidFill>
                  <a:srgbClr val="EC8A62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BCCEDB1-278C-4631-AA78-56BD7AE89EE4}"/>
              </a:ext>
            </a:extLst>
          </p:cNvPr>
          <p:cNvSpPr/>
          <p:nvPr/>
        </p:nvSpPr>
        <p:spPr>
          <a:xfrm>
            <a:off x="494623" y="3048572"/>
            <a:ext cx="5967137" cy="333753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8691ED9-0C5B-40D1-A787-3F4EE8C46273}"/>
              </a:ext>
            </a:extLst>
          </p:cNvPr>
          <p:cNvSpPr txBox="1"/>
          <p:nvPr/>
        </p:nvSpPr>
        <p:spPr>
          <a:xfrm>
            <a:off x="6804097" y="5516842"/>
            <a:ext cx="271505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5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https://github.com/programmerDH-github/Portfolio</a:t>
            </a:r>
            <a:endParaRPr kumimoji="1" lang="en-US" altLang="ko-KR" sz="1050" dirty="0">
              <a:solidFill>
                <a:schemeClr val="tx1">
                  <a:lumMod val="50000"/>
                  <a:lumOff val="50000"/>
                </a:schemeClr>
              </a:solidFill>
              <a:latin typeface="THEJung120" panose="02020603020101020101" pitchFamily="18" charset="-127"/>
              <a:ea typeface="THEJung120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846AC6B-26BF-438D-BF38-3B16FD2C5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880" y="3604782"/>
            <a:ext cx="5496622" cy="222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521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B3F9EF3-0CD7-BF45-A62B-CCE747692D8B}"/>
              </a:ext>
            </a:extLst>
          </p:cNvPr>
          <p:cNvSpPr/>
          <p:nvPr/>
        </p:nvSpPr>
        <p:spPr>
          <a:xfrm>
            <a:off x="50513" y="-54031"/>
            <a:ext cx="9670430" cy="64265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C10AF55-6BCB-45F8-9FE6-A70ABEEB5470}"/>
              </a:ext>
            </a:extLst>
          </p:cNvPr>
          <p:cNvSpPr/>
          <p:nvPr/>
        </p:nvSpPr>
        <p:spPr>
          <a:xfrm>
            <a:off x="617770" y="1633735"/>
            <a:ext cx="206103" cy="4571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463258-7260-4739-B638-37F50559702E}"/>
              </a:ext>
            </a:extLst>
          </p:cNvPr>
          <p:cNvSpPr txBox="1"/>
          <p:nvPr/>
        </p:nvSpPr>
        <p:spPr>
          <a:xfrm>
            <a:off x="823873" y="1528607"/>
            <a:ext cx="1819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100" b="1" dirty="0">
                <a:latin typeface="THEJung120" panose="02020603020101020101" pitchFamily="18" charset="-127"/>
                <a:ea typeface="THEJung120" panose="02020603020101020101" pitchFamily="18" charset="-127"/>
              </a:rPr>
              <a:t>AWARDS</a:t>
            </a:r>
            <a:endParaRPr kumimoji="1" lang="ko-KR" altLang="en-US" sz="1100" b="1" dirty="0">
              <a:latin typeface="THEJung120" panose="02020603020101020101" pitchFamily="18" charset="-127"/>
              <a:ea typeface="THEJung120" panose="02020603020101020101" pitchFamily="18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15FCF10-2B62-4230-A75D-3C5F43E9A473}"/>
              </a:ext>
            </a:extLst>
          </p:cNvPr>
          <p:cNvSpPr txBox="1"/>
          <p:nvPr/>
        </p:nvSpPr>
        <p:spPr>
          <a:xfrm>
            <a:off x="513805" y="1916285"/>
            <a:ext cx="9412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2018. 11. 13 </a:t>
            </a:r>
            <a:endParaRPr kumimoji="1"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THEJung120" panose="02020603020101020101" pitchFamily="18" charset="-127"/>
              <a:ea typeface="THEJung120" panose="02020603020101020101" pitchFamily="18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92A242E-0DA2-404E-BE42-16AD54BA6A00}"/>
              </a:ext>
            </a:extLst>
          </p:cNvPr>
          <p:cNvSpPr txBox="1"/>
          <p:nvPr/>
        </p:nvSpPr>
        <p:spPr>
          <a:xfrm>
            <a:off x="513805" y="2173633"/>
            <a:ext cx="8963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2018. 08. 25</a:t>
            </a:r>
            <a:endParaRPr kumimoji="1"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THEJung120" panose="02020603020101020101" pitchFamily="18" charset="-127"/>
              <a:ea typeface="THEJung120" panose="02020603020101020101" pitchFamily="18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3D324D16-FA20-4D17-AD34-3B4E3AF6C7B0}"/>
              </a:ext>
            </a:extLst>
          </p:cNvPr>
          <p:cNvGrpSpPr/>
          <p:nvPr/>
        </p:nvGrpSpPr>
        <p:grpSpPr>
          <a:xfrm>
            <a:off x="351449" y="452819"/>
            <a:ext cx="3530256" cy="657764"/>
            <a:chOff x="351449" y="452819"/>
            <a:chExt cx="3530256" cy="65776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65BF1CD-60DD-4BAE-BD4C-D3A4966F3423}"/>
                </a:ext>
              </a:extLst>
            </p:cNvPr>
            <p:cNvSpPr txBox="1"/>
            <p:nvPr/>
          </p:nvSpPr>
          <p:spPr>
            <a:xfrm>
              <a:off x="463182" y="864362"/>
              <a:ext cx="1282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solidFill>
                    <a:schemeClr val="accent3">
                      <a:lumMod val="75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인적사항</a:t>
              </a:r>
              <a:endParaRPr lang="ko-KR" altLang="en-US" sz="700" dirty="0">
                <a:solidFill>
                  <a:schemeClr val="accent3">
                    <a:lumMod val="75000"/>
                  </a:schemeClr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12C2522-980D-4EAF-A5F5-717911DEDE64}"/>
                </a:ext>
              </a:extLst>
            </p:cNvPr>
            <p:cNvSpPr txBox="1"/>
            <p:nvPr/>
          </p:nvSpPr>
          <p:spPr>
            <a:xfrm>
              <a:off x="1164070" y="864362"/>
              <a:ext cx="83016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solidFill>
                    <a:schemeClr val="accent3">
                      <a:lumMod val="75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이수 과목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DC9E580-2EA0-45CF-B93D-8109673C28E4}"/>
                </a:ext>
              </a:extLst>
            </p:cNvPr>
            <p:cNvSpPr txBox="1"/>
            <p:nvPr/>
          </p:nvSpPr>
          <p:spPr>
            <a:xfrm>
              <a:off x="1881749" y="861711"/>
              <a:ext cx="1282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solidFill>
                    <a:schemeClr val="accent3">
                      <a:lumMod val="75000"/>
                    </a:schemeClr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PROJECTS</a:t>
              </a:r>
              <a:endParaRPr lang="ko-KR" altLang="en-US" sz="800" dirty="0">
                <a:solidFill>
                  <a:schemeClr val="accent3">
                    <a:lumMod val="75000"/>
                  </a:schemeClr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3BD290D-D487-40C4-BB79-4FFE305190F4}"/>
                </a:ext>
              </a:extLst>
            </p:cNvPr>
            <p:cNvSpPr txBox="1"/>
            <p:nvPr/>
          </p:nvSpPr>
          <p:spPr>
            <a:xfrm>
              <a:off x="2612739" y="864362"/>
              <a:ext cx="12689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수상</a:t>
              </a:r>
              <a:r>
                <a:rPr lang="en-US" altLang="ko-KR" sz="1000" b="1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/</a:t>
              </a:r>
              <a:r>
                <a:rPr lang="ko-KR" altLang="en-US" sz="1000" b="1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자격증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EFF71DE-7CEC-430D-96D4-59FBA2BDF0B6}"/>
                </a:ext>
              </a:extLst>
            </p:cNvPr>
            <p:cNvSpPr txBox="1"/>
            <p:nvPr/>
          </p:nvSpPr>
          <p:spPr>
            <a:xfrm>
              <a:off x="351449" y="452819"/>
              <a:ext cx="28367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solidFill>
                    <a:srgbClr val="EC8A62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  </a:t>
              </a:r>
              <a:r>
                <a:rPr lang="en-US" altLang="ko-KR" b="1" dirty="0">
                  <a:solidFill>
                    <a:srgbClr val="EC8A62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[PORTFOLIO] </a:t>
              </a:r>
              <a:r>
                <a:rPr lang="ko-KR" altLang="en-US" b="1" dirty="0">
                  <a:solidFill>
                    <a:srgbClr val="EC8A62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이동훈</a:t>
              </a:r>
              <a:endParaRPr lang="ko-KR" altLang="en-US" sz="1000" b="1" dirty="0">
                <a:solidFill>
                  <a:srgbClr val="EC8A62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6BB0614F-D9F9-4A54-ACF6-C1EA1280A3E8}"/>
              </a:ext>
            </a:extLst>
          </p:cNvPr>
          <p:cNvSpPr txBox="1"/>
          <p:nvPr/>
        </p:nvSpPr>
        <p:spPr>
          <a:xfrm>
            <a:off x="1596046" y="1920369"/>
            <a:ext cx="16401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소프트웨어학 전공과제전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62A160-410F-4578-98B9-FC28D86181DD}"/>
              </a:ext>
            </a:extLst>
          </p:cNvPr>
          <p:cNvSpPr txBox="1"/>
          <p:nvPr/>
        </p:nvSpPr>
        <p:spPr>
          <a:xfrm>
            <a:off x="1596046" y="2173632"/>
            <a:ext cx="13580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전국 </a:t>
            </a:r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ICT</a:t>
            </a:r>
            <a:r>
              <a:rPr kumimoji="1"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창의성 대회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2AC8CA-5C5A-4896-BBE4-F941C308859B}"/>
              </a:ext>
            </a:extLst>
          </p:cNvPr>
          <p:cNvSpPr txBox="1"/>
          <p:nvPr/>
        </p:nvSpPr>
        <p:spPr>
          <a:xfrm>
            <a:off x="513805" y="2427160"/>
            <a:ext cx="8963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2018. 08. 25</a:t>
            </a:r>
            <a:endParaRPr kumimoji="1"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THEJung120" panose="02020603020101020101" pitchFamily="18" charset="-127"/>
              <a:ea typeface="THEJung120" panose="0202060302010102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464FD9-AD84-4074-B4E5-4B14593CF84E}"/>
              </a:ext>
            </a:extLst>
          </p:cNvPr>
          <p:cNvSpPr txBox="1"/>
          <p:nvPr/>
        </p:nvSpPr>
        <p:spPr>
          <a:xfrm>
            <a:off x="1596046" y="2427159"/>
            <a:ext cx="13580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전국 </a:t>
            </a:r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ICT</a:t>
            </a:r>
            <a:r>
              <a:rPr kumimoji="1"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창의성 대회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C8814E-7C2A-45F2-9DE7-42B3FFE8EE89}"/>
              </a:ext>
            </a:extLst>
          </p:cNvPr>
          <p:cNvSpPr txBox="1"/>
          <p:nvPr/>
        </p:nvSpPr>
        <p:spPr>
          <a:xfrm>
            <a:off x="513803" y="2688395"/>
            <a:ext cx="8963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2018. 06. 29</a:t>
            </a:r>
            <a:endParaRPr kumimoji="1"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THEJung120" panose="02020603020101020101" pitchFamily="18" charset="-127"/>
              <a:ea typeface="THEJung120" panose="02020603020101020101" pitchFamily="18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A8EBFC-DEBA-48AF-9EBF-7E62BEAB4BE3}"/>
              </a:ext>
            </a:extLst>
          </p:cNvPr>
          <p:cNvSpPr txBox="1"/>
          <p:nvPr/>
        </p:nvSpPr>
        <p:spPr>
          <a:xfrm>
            <a:off x="1596044" y="2688394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국내학술대회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69613C-DC68-413C-AF3A-CC952FD2A59F}"/>
              </a:ext>
            </a:extLst>
          </p:cNvPr>
          <p:cNvSpPr txBox="1"/>
          <p:nvPr/>
        </p:nvSpPr>
        <p:spPr>
          <a:xfrm>
            <a:off x="513805" y="2948672"/>
            <a:ext cx="8963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2017. 11. 30</a:t>
            </a:r>
            <a:endParaRPr kumimoji="1"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THEJung120" panose="02020603020101020101" pitchFamily="18" charset="-127"/>
              <a:ea typeface="THEJung120" panose="02020603020101020101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4BC503-B5B9-4361-9649-A01194DDE6B2}"/>
              </a:ext>
            </a:extLst>
          </p:cNvPr>
          <p:cNvSpPr txBox="1"/>
          <p:nvPr/>
        </p:nvSpPr>
        <p:spPr>
          <a:xfrm>
            <a:off x="1596046" y="2948671"/>
            <a:ext cx="11256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Hacking Festival</a:t>
            </a:r>
            <a:endParaRPr kumimoji="1"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THEJung120" panose="02020603020101020101" pitchFamily="18" charset="-127"/>
              <a:ea typeface="THEJung120" panose="0202060302010102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6E42D7-BBCB-47CD-870A-8089991D0BEC}"/>
              </a:ext>
            </a:extLst>
          </p:cNvPr>
          <p:cNvSpPr txBox="1"/>
          <p:nvPr/>
        </p:nvSpPr>
        <p:spPr>
          <a:xfrm>
            <a:off x="513805" y="3215326"/>
            <a:ext cx="8963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2017. 11. 30</a:t>
            </a:r>
            <a:endParaRPr kumimoji="1"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THEJung120" panose="02020603020101020101" pitchFamily="18" charset="-127"/>
              <a:ea typeface="THEJung120" panose="02020603020101020101" pitchFamily="18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FB2B4B8-6537-443A-AFAE-3EE581F8092B}"/>
              </a:ext>
            </a:extLst>
          </p:cNvPr>
          <p:cNvSpPr txBox="1"/>
          <p:nvPr/>
        </p:nvSpPr>
        <p:spPr>
          <a:xfrm>
            <a:off x="1596046" y="3215325"/>
            <a:ext cx="16850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자바 프로그래밍 경진대회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62D2A5-E661-4B22-87F6-54796112DD0F}"/>
              </a:ext>
            </a:extLst>
          </p:cNvPr>
          <p:cNvSpPr txBox="1"/>
          <p:nvPr/>
        </p:nvSpPr>
        <p:spPr>
          <a:xfrm>
            <a:off x="3781324" y="1916284"/>
            <a:ext cx="171713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스마트터치스크린</a:t>
            </a:r>
            <a:r>
              <a:rPr kumimoji="1"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 </a:t>
            </a:r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(</a:t>
            </a:r>
            <a:r>
              <a:rPr kumimoji="1"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창의상</a:t>
            </a:r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)</a:t>
            </a:r>
            <a:endParaRPr kumimoji="1"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THEJung120" panose="02020603020101020101" pitchFamily="18" charset="-127"/>
              <a:ea typeface="THEJung120" panose="02020603020101020101" pitchFamily="18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799C152-6BC0-4547-BB9C-2702AA9542AC}"/>
              </a:ext>
            </a:extLst>
          </p:cNvPr>
          <p:cNvSpPr txBox="1"/>
          <p:nvPr/>
        </p:nvSpPr>
        <p:spPr>
          <a:xfrm>
            <a:off x="3781324" y="2173631"/>
            <a:ext cx="45977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Consert</a:t>
            </a:r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 Get Tickets Application Using </a:t>
            </a:r>
            <a:r>
              <a:rPr kumimoji="1" lang="en-US" altLang="ko-KR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SmartPhone</a:t>
            </a:r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 (</a:t>
            </a:r>
            <a:r>
              <a:rPr kumimoji="1" lang="ko-KR" alt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안드로이드부문</a:t>
            </a:r>
            <a:r>
              <a:rPr kumimoji="1"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 장려상</a:t>
            </a:r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)</a:t>
            </a:r>
            <a:endParaRPr kumimoji="1"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THEJung120" panose="02020603020101020101" pitchFamily="18" charset="-127"/>
              <a:ea typeface="THEJung120" panose="02020603020101020101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565346A-66B4-4344-8E5C-E6BDFD4A6DB2}"/>
              </a:ext>
            </a:extLst>
          </p:cNvPr>
          <p:cNvSpPr txBox="1"/>
          <p:nvPr/>
        </p:nvSpPr>
        <p:spPr>
          <a:xfrm>
            <a:off x="3781324" y="2427160"/>
            <a:ext cx="7425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단체 대상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B3C5BB9-DDF0-49B2-9EDC-09655B3621CB}"/>
              </a:ext>
            </a:extLst>
          </p:cNvPr>
          <p:cNvSpPr txBox="1"/>
          <p:nvPr/>
        </p:nvSpPr>
        <p:spPr>
          <a:xfrm>
            <a:off x="3775601" y="2688395"/>
            <a:ext cx="39565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Consert</a:t>
            </a:r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 Get Tickets Application Using </a:t>
            </a:r>
            <a:r>
              <a:rPr kumimoji="1" lang="en-US" altLang="ko-KR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SmartPhone</a:t>
            </a:r>
            <a:r>
              <a:rPr kumimoji="1"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 </a:t>
            </a:r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(</a:t>
            </a:r>
            <a:r>
              <a:rPr kumimoji="1"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우수 논문상</a:t>
            </a:r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)</a:t>
            </a:r>
            <a:endParaRPr kumimoji="1"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THEJung120" panose="02020603020101020101" pitchFamily="18" charset="-127"/>
              <a:ea typeface="THEJung120" panose="02020603020101020101" pitchFamily="18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20C9F45-2CE1-4450-A219-33BDE7169FBB}"/>
              </a:ext>
            </a:extLst>
          </p:cNvPr>
          <p:cNvSpPr txBox="1"/>
          <p:nvPr/>
        </p:nvSpPr>
        <p:spPr>
          <a:xfrm>
            <a:off x="3775602" y="2948134"/>
            <a:ext cx="43396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SNS(Face Book)</a:t>
            </a:r>
            <a:r>
              <a:rPr kumimoji="1"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을 이용한 </a:t>
            </a:r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Phishing</a:t>
            </a:r>
            <a:r>
              <a:rPr kumimoji="1"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과 </a:t>
            </a:r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Smishing </a:t>
            </a:r>
            <a:r>
              <a:rPr kumimoji="1"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및 피해 시나리오 </a:t>
            </a:r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(</a:t>
            </a:r>
            <a:r>
              <a:rPr kumimoji="1"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은상</a:t>
            </a:r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)</a:t>
            </a:r>
            <a:endParaRPr kumimoji="1"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THEJung120" panose="02020603020101020101" pitchFamily="18" charset="-127"/>
              <a:ea typeface="THEJung120" panose="02020603020101020101" pitchFamily="18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05350B6-C1BF-4C3B-95C4-780CD270456B}"/>
              </a:ext>
            </a:extLst>
          </p:cNvPr>
          <p:cNvSpPr txBox="1"/>
          <p:nvPr/>
        </p:nvSpPr>
        <p:spPr>
          <a:xfrm>
            <a:off x="3775601" y="3214250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장려상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4888B67-EFDB-4909-AA7F-2ABFB7FDBFF2}"/>
              </a:ext>
            </a:extLst>
          </p:cNvPr>
          <p:cNvSpPr/>
          <p:nvPr/>
        </p:nvSpPr>
        <p:spPr>
          <a:xfrm>
            <a:off x="637154" y="4523467"/>
            <a:ext cx="206103" cy="4571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10DF0D-8827-4BE4-A782-6C9DF58D8227}"/>
              </a:ext>
            </a:extLst>
          </p:cNvPr>
          <p:cNvSpPr txBox="1"/>
          <p:nvPr/>
        </p:nvSpPr>
        <p:spPr>
          <a:xfrm>
            <a:off x="843257" y="4411663"/>
            <a:ext cx="16159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100" b="1" dirty="0">
                <a:latin typeface="THEJung120" panose="02020603020101020101" pitchFamily="18" charset="-127"/>
                <a:ea typeface="THEJung120" panose="02020603020101020101" pitchFamily="18" charset="-127"/>
              </a:rPr>
              <a:t>LICENSE</a:t>
            </a:r>
            <a:endParaRPr kumimoji="1" lang="ko-KR" altLang="en-US" sz="1000" b="1" dirty="0">
              <a:latin typeface="THEJung120" panose="02020603020101020101" pitchFamily="18" charset="-127"/>
              <a:ea typeface="THEJung120" panose="02020603020101020101" pitchFamily="18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92D1053-492E-4B1A-8108-D15A12FD5ED2}"/>
              </a:ext>
            </a:extLst>
          </p:cNvPr>
          <p:cNvSpPr txBox="1"/>
          <p:nvPr/>
        </p:nvSpPr>
        <p:spPr>
          <a:xfrm>
            <a:off x="557750" y="4780812"/>
            <a:ext cx="8066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2019.05.22</a:t>
            </a:r>
            <a:endParaRPr kumimoji="1"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THEJung120" panose="02020603020101020101" pitchFamily="18" charset="-127"/>
              <a:ea typeface="THEJung120" panose="02020603020101020101" pitchFamily="18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66539DD-99A8-4D19-97C7-A68BF107BA8B}"/>
              </a:ext>
            </a:extLst>
          </p:cNvPr>
          <p:cNvSpPr txBox="1"/>
          <p:nvPr/>
        </p:nvSpPr>
        <p:spPr>
          <a:xfrm>
            <a:off x="1651232" y="4778122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정보처리기사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1256B2-C356-4F13-B8A0-531D9B5E845A}"/>
              </a:ext>
            </a:extLst>
          </p:cNvPr>
          <p:cNvSpPr txBox="1"/>
          <p:nvPr/>
        </p:nvSpPr>
        <p:spPr>
          <a:xfrm>
            <a:off x="513803" y="3476561"/>
            <a:ext cx="8963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2017. 11. 11</a:t>
            </a:r>
            <a:endParaRPr kumimoji="1"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THEJung120" panose="02020603020101020101" pitchFamily="18" charset="-127"/>
              <a:ea typeface="THEJung120" panose="02020603020101020101" pitchFamily="18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133BE35-B313-4ACF-9303-E57BEC204AF7}"/>
              </a:ext>
            </a:extLst>
          </p:cNvPr>
          <p:cNvSpPr txBox="1"/>
          <p:nvPr/>
        </p:nvSpPr>
        <p:spPr>
          <a:xfrm>
            <a:off x="1596044" y="3476560"/>
            <a:ext cx="18389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마이스타일</a:t>
            </a:r>
            <a:r>
              <a:rPr kumimoji="1"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 </a:t>
            </a:r>
            <a:r>
              <a:rPr kumimoji="1" lang="ko-KR" alt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트렌드페어</a:t>
            </a:r>
            <a:r>
              <a:rPr kumimoji="1"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 </a:t>
            </a:r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2017</a:t>
            </a:r>
            <a:endParaRPr kumimoji="1"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THEJung120" panose="02020603020101020101" pitchFamily="18" charset="-127"/>
              <a:ea typeface="THEJung120" panose="02020603020101020101" pitchFamily="18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861515D-DD58-4897-907F-01D3BE1F8CD9}"/>
              </a:ext>
            </a:extLst>
          </p:cNvPr>
          <p:cNvSpPr txBox="1"/>
          <p:nvPr/>
        </p:nvSpPr>
        <p:spPr>
          <a:xfrm>
            <a:off x="3775599" y="3475485"/>
            <a:ext cx="35253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아두이노의</a:t>
            </a:r>
            <a:r>
              <a:rPr kumimoji="1"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 진동 감지 센서를 이용한 응급환자 구조 </a:t>
            </a:r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(</a:t>
            </a:r>
            <a:r>
              <a:rPr kumimoji="1"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동상</a:t>
            </a:r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)</a:t>
            </a:r>
            <a:endParaRPr kumimoji="1"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THEJung120" panose="02020603020101020101" pitchFamily="18" charset="-127"/>
              <a:ea typeface="THEJung120" panose="02020603020101020101" pitchFamily="18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6DB33DB-A744-48CA-A0A4-8FE416A1AFA7}"/>
              </a:ext>
            </a:extLst>
          </p:cNvPr>
          <p:cNvSpPr txBox="1"/>
          <p:nvPr/>
        </p:nvSpPr>
        <p:spPr>
          <a:xfrm>
            <a:off x="519528" y="3738205"/>
            <a:ext cx="8963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2017. 11. 11</a:t>
            </a:r>
            <a:endParaRPr kumimoji="1"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THEJung120" panose="02020603020101020101" pitchFamily="18" charset="-127"/>
              <a:ea typeface="THEJung120" panose="02020603020101020101" pitchFamily="18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90202A7-EEFB-4821-9C82-80E98A8D7204}"/>
              </a:ext>
            </a:extLst>
          </p:cNvPr>
          <p:cNvSpPr txBox="1"/>
          <p:nvPr/>
        </p:nvSpPr>
        <p:spPr>
          <a:xfrm>
            <a:off x="1601769" y="3738204"/>
            <a:ext cx="18389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마이스타일</a:t>
            </a:r>
            <a:r>
              <a:rPr kumimoji="1"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 </a:t>
            </a:r>
            <a:r>
              <a:rPr kumimoji="1" lang="ko-KR" alt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트렌드페어</a:t>
            </a:r>
            <a:r>
              <a:rPr kumimoji="1"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 </a:t>
            </a:r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2017</a:t>
            </a:r>
            <a:endParaRPr kumimoji="1"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THEJung120" panose="02020603020101020101" pitchFamily="18" charset="-127"/>
              <a:ea typeface="THEJung120" panose="02020603020101020101" pitchFamily="18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9ABF055-9E56-42E8-B920-2D4E84BF6F80}"/>
              </a:ext>
            </a:extLst>
          </p:cNvPr>
          <p:cNvSpPr txBox="1"/>
          <p:nvPr/>
        </p:nvSpPr>
        <p:spPr>
          <a:xfrm>
            <a:off x="3781324" y="3737129"/>
            <a:ext cx="8707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단체 우수상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68DA501-A419-4CC9-9793-050A2470FCA8}"/>
              </a:ext>
            </a:extLst>
          </p:cNvPr>
          <p:cNvSpPr txBox="1"/>
          <p:nvPr/>
        </p:nvSpPr>
        <p:spPr>
          <a:xfrm>
            <a:off x="513803" y="3997945"/>
            <a:ext cx="8963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2016. 11. 29</a:t>
            </a:r>
            <a:endParaRPr kumimoji="1"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THEJung120" panose="02020603020101020101" pitchFamily="18" charset="-127"/>
              <a:ea typeface="THEJung120" panose="02020603020101020101" pitchFamily="18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1B24AF1-88A3-475B-AB05-13F7185F0DBF}"/>
              </a:ext>
            </a:extLst>
          </p:cNvPr>
          <p:cNvSpPr txBox="1"/>
          <p:nvPr/>
        </p:nvSpPr>
        <p:spPr>
          <a:xfrm>
            <a:off x="1596044" y="3997944"/>
            <a:ext cx="11256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Hacking Festival</a:t>
            </a:r>
            <a:endParaRPr kumimoji="1"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THEJung120" panose="02020603020101020101" pitchFamily="18" charset="-127"/>
              <a:ea typeface="THEJung120" panose="02020603020101020101" pitchFamily="18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0E9AC2-FA7F-477E-9B59-33DA1FA09FF9}"/>
              </a:ext>
            </a:extLst>
          </p:cNvPr>
          <p:cNvSpPr txBox="1"/>
          <p:nvPr/>
        </p:nvSpPr>
        <p:spPr>
          <a:xfrm>
            <a:off x="3775599" y="3996869"/>
            <a:ext cx="3728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Wireless Network</a:t>
            </a:r>
            <a:r>
              <a:rPr kumimoji="1"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를 이용한 개인 정보 유출 시나리오 </a:t>
            </a:r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(</a:t>
            </a:r>
            <a:r>
              <a:rPr kumimoji="1"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장려상</a:t>
            </a:r>
            <a:r>
              <a:rPr kumimoji="1"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THEJung120" panose="02020603020101020101" pitchFamily="18" charset="-127"/>
                <a:ea typeface="THEJung120" panose="02020603020101020101" pitchFamily="18" charset="-127"/>
              </a:rPr>
              <a:t>)</a:t>
            </a:r>
            <a:endParaRPr kumimoji="1"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THEJung120" panose="02020603020101020101" pitchFamily="18" charset="-127"/>
              <a:ea typeface="THEJung120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6846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피티빵빵 템플릿 10] 포트폴리오 템플릿" id="{67AFF043-D55F-C240-A994-2855FEAC5158}" vid="{F346FD73-7CB5-304A-825D-0BE441E5BC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테마</Template>
  <TotalTime>441</TotalTime>
  <Words>757</Words>
  <Application>Microsoft Office PowerPoint</Application>
  <PresentationFormat>A4 용지(210x297mm)</PresentationFormat>
  <Paragraphs>212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20" baseType="lpstr">
      <vt:lpstr>Arita-dotum(OTF) Medium</vt:lpstr>
      <vt:lpstr>Arita-dotum(TTF) Medium</vt:lpstr>
      <vt:lpstr>KoreanYNMYTL</vt:lpstr>
      <vt:lpstr>NanumBarunGothic</vt:lpstr>
      <vt:lpstr>NotoSans-Regular</vt:lpstr>
      <vt:lpstr>THEJung120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na yeon kim</dc:creator>
  <cp:lastModifiedBy>KTC SYSTEM</cp:lastModifiedBy>
  <cp:revision>45</cp:revision>
  <dcterms:created xsi:type="dcterms:W3CDTF">2019-05-09T15:54:43Z</dcterms:created>
  <dcterms:modified xsi:type="dcterms:W3CDTF">2022-02-14T13:11:57Z</dcterms:modified>
</cp:coreProperties>
</file>